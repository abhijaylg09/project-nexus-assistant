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&amp; INTRO (Presented by Bhadra G. S.):</a:t>
            </a:r>
          </a:p>
          <a:p>
            <a:r>
              <a:t>Good morning respected evaluators, professors, and peers. Today our team STI25CS presents Project N.E.X.U.S—Neural EXecutive User System. Project N.E.X.U.S is a real-time, desktop AI assistant built around a centralized Java 21 core, integrating computer vision emotion classification, hand gesture controls, offline speech processing, LLM reasoning, and adaptive personalization in a high-performance sci-fi HUD.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STATEMENT (Presented by Bhadra G. S.):</a:t>
            </a:r>
          </a:p>
          <a:p>
            <a:r>
              <a:t>Virtual assistants today face three major structural flaws:</a:t>
            </a:r>
          </a:p>
          <a:p>
            <a:r>
              <a:t>1. Architecture: Relying on disparate Python scripts leads to brittle inter-process communications.</a:t>
            </a:r>
          </a:p>
          <a:p>
            <a:r>
              <a:t>2. Concurrency: Python's GIL throttles concurrent multimedia threads, freezing interfaces.</a:t>
            </a:r>
          </a:p>
          <a:p>
            <a:r>
              <a:t>3. Intelligence: Existing systems are either completely stateless or append raw chat histories until token limits explode.</a:t>
            </a:r>
          </a:p>
          <a:p>
            <a:r>
              <a:t>N.E.X.U.S directly solves these bottlenecks with a compiled, multithreaded Java orchestration 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IDEATION (Presented by Bhadra G. S. &amp; Abhijay L. G.):</a:t>
            </a:r>
          </a:p>
          <a:p>
            <a:r>
              <a:t>Instead of treating Java as merely an enterprise backend language, we leverage Java 21 LTS as a high-throughput multimodal orchestrator. By utilizing JNI wrappers around native C++ runtimes like ONNX Runtime and OpenCV, Java manages concurrency deterministically while eliminating Python's GIL bottlenecks. This architectural pivot enables rock-solid 60 FPS HUD animation while running live video and acoustic models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ARCHITECTURE (Presented by Bhadra G. S. &amp; Abhijay L. G.):</a:t>
            </a:r>
          </a:p>
          <a:p>
            <a:r>
              <a:t>Here you see our 3-tier architecture:</a:t>
            </a:r>
          </a:p>
          <a:p>
            <a:r>
              <a:t>- Left: Input Perception captures vision and speech.</a:t>
            </a:r>
          </a:p>
          <a:p>
            <a:r>
              <a:t>- Center: The Central Brain manages events, context injection, and behavioral updates.</a:t>
            </a:r>
          </a:p>
          <a:p>
            <a:r>
              <a:t>- Right: Output &amp; Action delivers audio speech and renders the 60 FPS cyberpunk HUD.</a:t>
            </a:r>
          </a:p>
          <a:p>
            <a:r>
              <a:t>All data exchanges occur over strongly typed Java events, preventing coupling between modules.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CONCURRENCY ARCHITECTURE (Presented by Abhijay L. G. &amp; Dia M. Joby):</a:t>
            </a:r>
          </a:p>
          <a:p>
            <a:r>
              <a:t>Evaluators often ask: 'How do you guarantee the UI doesn't stutter when doing AI inference?'</a:t>
            </a:r>
          </a:p>
          <a:p>
            <a:r>
              <a:t>Our answer is strict thread isolation. The camera runs at 30 FPS on its own scheduled executor. The audio capture runs on a daemon thread. LLM requests execute asynchronously on HTTP/2 workers. Only UI layout and canvas repaints touch the JavaFX Application Thread via Platform.runLater(). This completely prevents deadlocks and guarantees 60 FPS HUD responsiveness.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 VISION &amp; EMOTION DETECTION (Presented by Aleena Maria Roy):</a:t>
            </a:r>
          </a:p>
          <a:p>
            <a:r>
              <a:t>Our vision subsystem uses OpenCV for frame acquisition and face ROI extraction. The face crop is preprocessed to 64x64 grayscale and passed into our ONNX FER+ model via the native ONNX Runtime Java API. Inference takes only 10 to 14 milliseconds per frame. We also implement temporal window smoothing to prevent rapid flickering under unstable room lighting.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GESTURE SHORTCUTS (Presented by Aleena Maria Roy):</a:t>
            </a:r>
          </a:p>
          <a:p>
            <a:r>
              <a:t>In addition to speech and keyboard, N.E.X.U.S offers touchless gestural shortcuts. For example, if the assistant is speaking and the user raises an Open Palm, the speech playback terminates instantly. Thumbs-Up confirms suggestions, and Peace Sign triggers a quick summarization. We implement a 500 ms debounce filter so that holding a gesture does not flood the system with redundant actions.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SUBSYSTEM (Presented by Abhishek A.):</a:t>
            </a:r>
          </a:p>
          <a:p>
            <a:r>
              <a:t>Our speech pipeline is designed for privacy, responsiveness, and zero cloud dependency when needed. Wake word detection uses Porcupine, keeping CPU consumption negligible. Speech recognition runs offline via Vosk JNI bindings. For speech synthesis, we designed a dual-path architecture: Piper TTS provides rich neural voice output, while Windows SAPI acts as an automatic zero-dependency fallback, guaranteeing vocal output everywhere.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 &amp; PROMPTING (Presented by Abhijay L. G.):</a:t>
            </a:r>
          </a:p>
          <a:p>
            <a:r>
              <a:t>Our language reasoning layer connects to state-of-the-art LLMs using Java 21's asynchronous HttpClient over HTTP/2. The PromptContextBuilder dynamically combines the core system instructions, the evolving user profile, the current environmental mood from the camera, and a bounded 6-turn chat window. If the user is detected as 'Stressed', the prompt instructs the model to be extra concise and supportive.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ADAPTIVE PERSONALIZATION (Presented by Abhijay L. G.):</a:t>
            </a:r>
          </a:p>
          <a:p>
            <a:r>
              <a:t>This is one of our key novelties: Closed-Loop Qualitative Behavioral Synthesis. Rather than using brittle hand-crafted rule counters, we periodically ask the LLM itself to analyze batches of interactions, moods, and sentiment to synthesize a natural-language profile of the user's communication style. This allows N.E.X.U.S to adapt naturally over time without token bloat.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MATHEMATICAL &amp; TOKEN FORMULATION (Presented by Abhijay L. G.):</a:t>
            </a:r>
          </a:p>
          <a:p>
            <a:r>
              <a:t>In academic reviews, professors often ask how we prevent token costs from skyrocketing. A naive chatbot that keeps appending chat history blows up its token budget after 20-30 turns. N.E.X.U.S caps the chat window to the latest 6 turns and distills long-term memory into a 2-sentence summary. This means whether the user has interacted 10 times or 1,000 times, the prompt size remains bounded at ~720 tokens, saving over 90% in token costs.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INTERFACE ARCHITECTURE (Presented by Dia M. Joby):</a:t>
            </a:r>
          </a:p>
          <a:p>
            <a:r>
              <a:t>Our frontend is built using JavaFX 21 with a custom cyberpunk glassmorphic CSS theme. It features a live camera viewport with glowing targeting brackets, an animated audio visualizer canvas, a chat stream with sentiment badges, live telemetry meters showing CPU and RAM consumption, and an Explainable Personalization Inspector that lets evaluators inspect what the assistant has learned about the user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BENCHMARKS &amp; EXPERIMENTAL RESULTS (Presented by Dia M. Joby &amp; Abhishek A.):</a:t>
            </a:r>
          </a:p>
          <a:p>
            <a:r>
              <a:t>Here are our measured performance benchmarks:</a:t>
            </a:r>
          </a:p>
          <a:p>
            <a:r>
              <a:t>- JavaFX HUD maintains a locked 60 FPS refresh rate.</a:t>
            </a:r>
          </a:p>
          <a:p>
            <a:r>
              <a:t>- ONNX facial emotion inference takes only 12 ms per frame.</a:t>
            </a:r>
          </a:p>
          <a:p>
            <a:r>
              <a:t>- Wake word detection latency is under 15 ms.</a:t>
            </a:r>
          </a:p>
          <a:p>
            <a:r>
              <a:t>- Total JVM heap memory footprint is approximately 165 MB.</a:t>
            </a:r>
          </a:p>
          <a:p>
            <a:r>
              <a:t>Compared to Python-based prototypes which suffer from GIL contention, our unified Java architecture achieves over 3x higher UI stability.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CONTRIBUTIONS (Presented by Bhadra G. S.):</a:t>
            </a:r>
          </a:p>
          <a:p>
            <a:r>
              <a:t>Our team divided responsibilities according to specialized computer science domains:</a:t>
            </a:r>
          </a:p>
          <a:p>
            <a:r>
              <a:t>- Bhadra: Architecture and system specifications.</a:t>
            </a:r>
          </a:p>
          <a:p>
            <a:r>
              <a:t>- Aleena: OpenCV, ONNX emotion modeling, and gesture vision.</a:t>
            </a:r>
          </a:p>
          <a:p>
            <a:r>
              <a:t>- Abhishek: Vosk speech-to-text and dual-path speech synthesis.</a:t>
            </a:r>
          </a:p>
          <a:p>
            <a:r>
              <a:t>- Dia: JavaFX interface, audio visualizer, and telemetry.</a:t>
            </a:r>
          </a:p>
          <a:p>
            <a:r>
              <a:t>- Abhijay: Central Java orchestrator, event bus, SQLite storage, and adaptive personalization.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DEFENSE STRATEGY (Presented by the Entire Team):</a:t>
            </a:r>
          </a:p>
          <a:p>
            <a:r>
              <a:t>Evaluators often focus on three key areas:</a:t>
            </a:r>
          </a:p>
          <a:p>
            <a:r>
              <a:t>1. Why Java? Emphasize the GIL bottleneck, true multithreading, and 60 FPS GUI stability.</a:t>
            </a:r>
          </a:p>
          <a:p>
            <a:r>
              <a:t>2. Token economics: Explain bounded 6-turn history plus periodic 2-sentence qualitative synthesis.</a:t>
            </a:r>
          </a:p>
          <a:p>
            <a:r>
              <a:t>3. Robustness: Highlight our simulated sensor fallback, zero-dependency Windows SAPI fallback, and local heuristic fallback.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&amp; LIVE DEMO (Presented by Bhadra G. S. &amp; Abhijay L. G.):</a:t>
            </a:r>
          </a:p>
          <a:p>
            <a:r>
              <a:t>In conclusion, Project N.E.X.U.S successfully demonstrates that Java 21 can power a real-time, multimodal, adaptive AI assistant with rock-solid concurrency and responsive cyberpunk aesthetics. We now invite our respected evaluators to observe the live HUD demonstration and ask any questions.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914400"/>
            <a:ext cx="9997135" cy="9144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280160"/>
            <a:ext cx="8899855" cy="2011680"/>
          </a:xfrm>
          <a:prstGeom prst="rect">
            <a:avLst/>
          </a:prstGeom>
          <a:noFill/>
        </p:spPr>
        <p:txBody>
          <a:bodyPr wrap="square">
            <a:spAutoFit/>
          </a:bodyPr>
          <a:lstStyle/>
          <a:p>
            <a:pPr>
              <a:spcAft>
                <a:spcPts val="800"/>
              </a:spcAft>
              <a:defRPr sz="1100" b="1">
                <a:solidFill>
                  <a:srgbClr val="00F2FE"/>
                </a:solidFill>
                <a:latin typeface="Segoe UI"/>
              </a:defRPr>
            </a:pPr>
            <a:r>
              <a:t>ACADEMIC MAJOR PROJECT PRESENTATION  •  BATCH STI25CS</a:t>
            </a:r>
          </a:p>
          <a:p>
            <a:pPr>
              <a:defRPr sz="4000" b="1">
                <a:solidFill>
                  <a:srgbClr val="F8FAFC"/>
                </a:solidFill>
                <a:latin typeface="Segoe UI"/>
              </a:defRPr>
            </a:pPr>
            <a:r>
              <a:t>PROJECT N.E.X.U.S</a:t>
            </a:r>
          </a:p>
          <a:p>
            <a:pPr>
              <a:spcBef>
                <a:spcPts val="600"/>
              </a:spcBef>
              <a:defRPr sz="1600">
                <a:solidFill>
                  <a:srgbClr val="BAE6FD"/>
                </a:solidFill>
                <a:latin typeface="Segoe UI"/>
              </a:defRPr>
            </a:pPr>
            <a:r>
              <a:t>Neural EXecutive User System: A Personal Real-Time AI Assistant Built Around a Unified Java Core</a:t>
            </a:r>
          </a:p>
        </p:txBody>
      </p:sp>
      <p:sp>
        <p:nvSpPr>
          <p:cNvPr id="6" name="Rounded Rectangle 5"/>
          <p:cNvSpPr/>
          <p:nvPr/>
        </p:nvSpPr>
        <p:spPr>
          <a:xfrm>
            <a:off x="1645920" y="3474720"/>
            <a:ext cx="2103120" cy="914400"/>
          </a:xfrm>
          <a:prstGeom prst="roundRect">
            <a:avLst/>
          </a:prstGeom>
          <a:solidFill>
            <a:srgbClr val="13203B"/>
          </a:solidFill>
          <a:ln w="15240">
            <a:solidFill>
              <a:srgbClr val="1E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2FE"/>
                </a:solidFill>
                <a:latin typeface="Segoe UI"/>
              </a:defRPr>
            </a:pPr>
            <a:r>
              <a:t>CORE ARCHITECTURE</a:t>
            </a:r>
          </a:p>
          <a:p>
            <a:pPr>
              <a:defRPr sz="1000">
                <a:solidFill>
                  <a:srgbClr val="F8FAFC"/>
                </a:solidFill>
                <a:latin typeface="Segoe UI"/>
              </a:defRPr>
            </a:pPr>
            <a:r>
              <a:t>Java 21 LTS Orchestrator (Zero-GIL)</a:t>
            </a:r>
          </a:p>
        </p:txBody>
      </p:sp>
      <p:sp>
        <p:nvSpPr>
          <p:cNvPr id="7" name="Rounded Rectangle 6"/>
          <p:cNvSpPr/>
          <p:nvPr/>
        </p:nvSpPr>
        <p:spPr>
          <a:xfrm>
            <a:off x="3886200" y="3474720"/>
            <a:ext cx="2103120" cy="914400"/>
          </a:xfrm>
          <a:prstGeom prst="roundRect">
            <a:avLst/>
          </a:prstGeom>
          <a:solidFill>
            <a:srgbClr val="13203B"/>
          </a:solidFill>
          <a:ln w="15240">
            <a:solidFill>
              <a:srgbClr val="1E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FF87"/>
                </a:solidFill>
                <a:latin typeface="Segoe UI"/>
              </a:defRPr>
            </a:pPr>
            <a:r>
              <a:t>PERCEPTION SUITE</a:t>
            </a:r>
          </a:p>
          <a:p>
            <a:pPr>
              <a:defRPr sz="1000">
                <a:solidFill>
                  <a:srgbClr val="F8FAFC"/>
                </a:solidFill>
                <a:latin typeface="Segoe UI"/>
              </a:defRPr>
            </a:pPr>
            <a:r>
              <a:t>OpenCV FER+ ONNX &amp; Vosk Acoustic STT</a:t>
            </a:r>
          </a:p>
        </p:txBody>
      </p:sp>
      <p:sp>
        <p:nvSpPr>
          <p:cNvPr id="8" name="Rounded Rectangle 7"/>
          <p:cNvSpPr/>
          <p:nvPr/>
        </p:nvSpPr>
        <p:spPr>
          <a:xfrm>
            <a:off x="6126480" y="3474720"/>
            <a:ext cx="2103120" cy="914400"/>
          </a:xfrm>
          <a:prstGeom prst="roundRect">
            <a:avLst/>
          </a:prstGeom>
          <a:solidFill>
            <a:srgbClr val="13203B"/>
          </a:solidFill>
          <a:ln w="15240">
            <a:solidFill>
              <a:srgbClr val="1E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C88CFF"/>
                </a:solidFill>
                <a:latin typeface="Segoe UI"/>
              </a:defRPr>
            </a:pPr>
            <a:r>
              <a:t>REASONING &amp; MEMORY</a:t>
            </a:r>
          </a:p>
          <a:p>
            <a:pPr>
              <a:defRPr sz="1000">
                <a:solidFill>
                  <a:srgbClr val="F8FAFC"/>
                </a:solidFill>
                <a:latin typeface="Segoe UI"/>
              </a:defRPr>
            </a:pPr>
            <a:r>
              <a:t>LLM Inference &amp; SQLite JDBC Closed-Loop</a:t>
            </a:r>
          </a:p>
        </p:txBody>
      </p:sp>
      <p:sp>
        <p:nvSpPr>
          <p:cNvPr id="9" name="Rounded Rectangle 8"/>
          <p:cNvSpPr/>
          <p:nvPr/>
        </p:nvSpPr>
        <p:spPr>
          <a:xfrm>
            <a:off x="8366760" y="3474720"/>
            <a:ext cx="2103120" cy="914400"/>
          </a:xfrm>
          <a:prstGeom prst="roundRect">
            <a:avLst/>
          </a:prstGeom>
          <a:solidFill>
            <a:srgbClr val="13203B"/>
          </a:solidFill>
          <a:ln w="15240">
            <a:solidFill>
              <a:srgbClr val="1E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59E0B"/>
                </a:solidFill>
                <a:latin typeface="Segoe UI"/>
              </a:defRPr>
            </a:pPr>
            <a:r>
              <a:t>TACTICAL INTERFACE</a:t>
            </a:r>
          </a:p>
          <a:p>
            <a:pPr>
              <a:defRPr sz="1000">
                <a:solidFill>
                  <a:srgbClr val="F8FAFC"/>
                </a:solidFill>
                <a:latin typeface="Segoe UI"/>
              </a:defRPr>
            </a:pPr>
            <a:r>
              <a:t>Hardware-Accelerated JavaFX 60 FPS HUD</a:t>
            </a:r>
          </a:p>
        </p:txBody>
      </p:sp>
      <p:sp>
        <p:nvSpPr>
          <p:cNvPr id="10" name="TextBox 9"/>
          <p:cNvSpPr txBox="1"/>
          <p:nvPr/>
        </p:nvSpPr>
        <p:spPr>
          <a:xfrm>
            <a:off x="1645920" y="4709160"/>
            <a:ext cx="8899855" cy="914400"/>
          </a:xfrm>
          <a:prstGeom prst="rect">
            <a:avLst/>
          </a:prstGeom>
          <a:noFill/>
        </p:spPr>
        <p:txBody>
          <a:bodyPr wrap="square">
            <a:spAutoFit/>
          </a:bodyPr>
          <a:lstStyle/>
          <a:p>
            <a:pPr>
              <a:defRPr sz="1000" b="1">
                <a:solidFill>
                  <a:srgbClr val="94A3B8"/>
                </a:solidFill>
                <a:latin typeface="Segoe UI"/>
              </a:defRPr>
            </a:pPr>
            <a:r>
              <a:t>Project Team STI25CS:</a:t>
            </a:r>
          </a:p>
          <a:p>
            <a:pPr>
              <a:spcBef>
                <a:spcPts val="300"/>
              </a:spcBef>
              <a:defRPr sz="1200" b="1">
                <a:solidFill>
                  <a:srgbClr val="F8FAFC"/>
                </a:solidFill>
                <a:latin typeface="Segoe UI"/>
              </a:defRPr>
            </a:pPr>
            <a:r>
              <a:t>Bhadra G. S. (48)   •   Aleena Maria Roy (26)   •   Abhishek A. (09)   •   Dia M. Joby (52)   •   Abhijay L. G. (121)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PROBLEM FORMULATION</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The Problem Statement: Limitations in Current AI Assistants</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02 / 16</a:t>
            </a:r>
          </a:p>
        </p:txBody>
      </p:sp>
      <p:sp>
        <p:nvSpPr>
          <p:cNvPr id="8" name="Rounded Rectangle 7"/>
          <p:cNvSpPr/>
          <p:nvPr/>
        </p:nvSpPr>
        <p:spPr>
          <a:xfrm>
            <a:off x="731520" y="1828800"/>
            <a:ext cx="347472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2800" b="1">
                <a:solidFill>
                  <a:srgbClr val="00F2FE"/>
                </a:solidFill>
                <a:latin typeface="Segoe UI"/>
              </a:defRPr>
            </a:pPr>
            <a:r>
              <a:t>01</a:t>
            </a:r>
          </a:p>
          <a:p>
            <a:pPr>
              <a:spcAft>
                <a:spcPts val="1200"/>
              </a:spcAft>
              <a:defRPr sz="1600" b="1">
                <a:solidFill>
                  <a:srgbClr val="F8FAFC"/>
                </a:solidFill>
                <a:latin typeface="Segoe UI"/>
              </a:defRPr>
            </a:pPr>
            <a:r>
              <a:t>Fragmented Multi-Stack Prototypes</a:t>
            </a:r>
          </a:p>
          <a:p>
            <a:pPr>
              <a:defRPr sz="1200">
                <a:solidFill>
                  <a:srgbClr val="94A3B8"/>
                </a:solidFill>
                <a:latin typeface="Segoe UI"/>
              </a:defRPr>
            </a:pPr>
            <a:r>
              <a:t>Most academic &amp; open-source AI assistants stitch together disconnected Python scripts, Node.js bridges, and web views via IPC sockets. This causes fragile process lifecycle management, high latency, and frequent crashes.</a:t>
            </a:r>
          </a:p>
        </p:txBody>
      </p:sp>
      <p:sp>
        <p:nvSpPr>
          <p:cNvPr id="9" name="Rounded Rectangle 8"/>
          <p:cNvSpPr/>
          <p:nvPr/>
        </p:nvSpPr>
        <p:spPr>
          <a:xfrm>
            <a:off x="4343400" y="1828800"/>
            <a:ext cx="3474720" cy="4297680"/>
          </a:xfrm>
          <a:prstGeom prst="roundRect">
            <a:avLst/>
          </a:prstGeom>
          <a:solidFill>
            <a:srgbClr val="0E17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2800" b="1">
                <a:solidFill>
                  <a:srgbClr val="F59E0B"/>
                </a:solidFill>
                <a:latin typeface="Segoe UI"/>
              </a:defRPr>
            </a:pPr>
            <a:r>
              <a:t>02</a:t>
            </a:r>
          </a:p>
          <a:p>
            <a:pPr>
              <a:spcAft>
                <a:spcPts val="1200"/>
              </a:spcAft>
              <a:defRPr sz="1600" b="1">
                <a:solidFill>
                  <a:srgbClr val="F8FAFC"/>
                </a:solidFill>
                <a:latin typeface="Segoe UI"/>
              </a:defRPr>
            </a:pPr>
            <a:r>
              <a:t>The Python GIL &amp; UI Lag Bottleneck</a:t>
            </a:r>
          </a:p>
          <a:p>
            <a:pPr>
              <a:defRPr sz="1200">
                <a:solidFill>
                  <a:srgbClr val="94A3B8"/>
                </a:solidFill>
                <a:latin typeface="Segoe UI"/>
              </a:defRPr>
            </a:pPr>
            <a:r>
              <a:t>Python's Global Interpreter Lock (GIL) fundamentally prevents true multicore parallelism. Running a 30 FPS video pipeline, audio capture, and a desktop GUI in Python causes frame drops and severe interface stuttering.</a:t>
            </a:r>
          </a:p>
        </p:txBody>
      </p:sp>
      <p:sp>
        <p:nvSpPr>
          <p:cNvPr id="10" name="Rounded Rectangle 9"/>
          <p:cNvSpPr/>
          <p:nvPr/>
        </p:nvSpPr>
        <p:spPr>
          <a:xfrm>
            <a:off x="7955280" y="1828800"/>
            <a:ext cx="3474720" cy="4297680"/>
          </a:xfrm>
          <a:prstGeom prst="roundRect">
            <a:avLst/>
          </a:prstGeom>
          <a:solidFill>
            <a:srgbClr val="0E172A"/>
          </a:solidFill>
          <a:ln w="15240">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2800" b="1">
                <a:solidFill>
                  <a:srgbClr val="9B51E0"/>
                </a:solidFill>
                <a:latin typeface="Segoe UI"/>
              </a:defRPr>
            </a:pPr>
            <a:r>
              <a:t>03</a:t>
            </a:r>
          </a:p>
          <a:p>
            <a:pPr>
              <a:spcAft>
                <a:spcPts val="1200"/>
              </a:spcAft>
              <a:defRPr sz="1600" b="1">
                <a:solidFill>
                  <a:srgbClr val="F8FAFC"/>
                </a:solidFill>
                <a:latin typeface="Segoe UI"/>
              </a:defRPr>
            </a:pPr>
            <a:r>
              <a:t>Stateless, Impaired Personalization</a:t>
            </a:r>
          </a:p>
          <a:p>
            <a:pPr>
              <a:defRPr sz="1200">
                <a:solidFill>
                  <a:srgbClr val="94A3B8"/>
                </a:solidFill>
                <a:latin typeface="Segoe UI"/>
              </a:defRPr>
            </a:pPr>
            <a:r>
              <a:t>Conventional assistants treat each session in isolation or rely on hardcoded counters. They are oblivious to user mood, body language, and long-term communication cadence, suffering from either total amnesia or prompt bloat.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CORE IDEATION</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Project N.E.X.U.S: The Unified Java Orchestrator</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03 / 16</a:t>
            </a:r>
          </a:p>
        </p:txBody>
      </p:sp>
      <p:sp>
        <p:nvSpPr>
          <p:cNvPr id="8" name="Rounded Rectangle 7"/>
          <p:cNvSpPr/>
          <p:nvPr/>
        </p:nvSpPr>
        <p:spPr>
          <a:xfrm>
            <a:off x="731520" y="1828800"/>
            <a:ext cx="521208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800" b="1">
                <a:solidFill>
                  <a:srgbClr val="00F2FE"/>
                </a:solidFill>
                <a:latin typeface="Segoe UI"/>
              </a:defRPr>
            </a:pPr>
            <a:r>
              <a:t>Why Java 21 as the Central Brain?</a:t>
            </a:r>
          </a:p>
          <a:p>
            <a:pPr>
              <a:spcBef>
                <a:spcPts val="600"/>
              </a:spcBef>
              <a:defRPr sz="1100" b="1">
                <a:solidFill>
                  <a:srgbClr val="F8FAFC"/>
                </a:solidFill>
                <a:latin typeface="Segoe UI"/>
              </a:defRPr>
            </a:pPr>
            <a:r>
              <a:t>• Zero GIL Contention: </a:t>
            </a:r>
          </a:p>
          <a:p>
            <a:pPr>
              <a:defRPr sz="1000">
                <a:solidFill>
                  <a:srgbClr val="94A3B8"/>
                </a:solidFill>
                <a:latin typeface="Segoe UI"/>
              </a:defRPr>
            </a:pPr>
            <a:r>
              <a:t>   True OS-level hardware multithreading guarantees camera capture, neural inference, and UI rendering execute simultaneously on separate CPU cores.</a:t>
            </a:r>
          </a:p>
          <a:p>
            <a:pPr>
              <a:spcBef>
                <a:spcPts val="600"/>
              </a:spcBef>
              <a:defRPr sz="1100" b="1">
                <a:solidFill>
                  <a:srgbClr val="F8FAFC"/>
                </a:solidFill>
                <a:latin typeface="Segoe UI"/>
              </a:defRPr>
            </a:pPr>
            <a:r>
              <a:t>• Deterministic Resource Management: </a:t>
            </a:r>
          </a:p>
          <a:p>
            <a:pPr>
              <a:defRPr sz="1000">
                <a:solidFill>
                  <a:srgbClr val="94A3B8"/>
                </a:solidFill>
                <a:latin typeface="Segoe UI"/>
              </a:defRPr>
            </a:pPr>
            <a:r>
              <a:t>   Java Virtual Machine (JVM) provides robust heap management, predictable GC, and eliminates orphan processes upon exit.</a:t>
            </a:r>
          </a:p>
          <a:p>
            <a:pPr>
              <a:spcBef>
                <a:spcPts val="600"/>
              </a:spcBef>
              <a:defRPr sz="1100" b="1">
                <a:solidFill>
                  <a:srgbClr val="F8FAFC"/>
                </a:solidFill>
                <a:latin typeface="Segoe UI"/>
              </a:defRPr>
            </a:pPr>
            <a:r>
              <a:t>• Native C++ Acceleration (JNI): </a:t>
            </a:r>
          </a:p>
          <a:p>
            <a:pPr>
              <a:defRPr sz="1000">
                <a:solidFill>
                  <a:srgbClr val="94A3B8"/>
                </a:solidFill>
                <a:latin typeface="Segoe UI"/>
              </a:defRPr>
            </a:pPr>
            <a:r>
              <a:t>   High-performance native libraries (OpenCV, ONNX Runtime, Vosk) are seamlessly bound directly into Java process memory.</a:t>
            </a:r>
          </a:p>
          <a:p>
            <a:pPr>
              <a:spcBef>
                <a:spcPts val="600"/>
              </a:spcBef>
              <a:defRPr sz="1100" b="1">
                <a:solidFill>
                  <a:srgbClr val="F8FAFC"/>
                </a:solidFill>
                <a:latin typeface="Segoe UI"/>
              </a:defRPr>
            </a:pPr>
            <a:r>
              <a:t>• Single-Process Reliability: </a:t>
            </a:r>
          </a:p>
          <a:p>
            <a:pPr>
              <a:defRPr sz="1000">
                <a:solidFill>
                  <a:srgbClr val="94A3B8"/>
                </a:solidFill>
                <a:latin typeface="Segoe UI"/>
              </a:defRPr>
            </a:pPr>
            <a:r>
              <a:t>   Eliminates fragile local sockets and multi-port microservices by unifying perception, reasoning, and presentation under one JVM.</a:t>
            </a:r>
          </a:p>
        </p:txBody>
      </p:sp>
      <p:sp>
        <p:nvSpPr>
          <p:cNvPr id="9" name="Rounded Rectangle 8"/>
          <p:cNvSpPr/>
          <p:nvPr/>
        </p:nvSpPr>
        <p:spPr>
          <a:xfrm>
            <a:off x="6217920" y="1828800"/>
            <a:ext cx="5212080" cy="429768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800" b="1">
                <a:solidFill>
                  <a:srgbClr val="00FF87"/>
                </a:solidFill>
                <a:latin typeface="Segoe UI"/>
              </a:defRPr>
            </a:pPr>
            <a:r>
              <a:t>Three Core Pillars of N.E.X.U.S</a:t>
            </a:r>
          </a:p>
          <a:p>
            <a:pPr>
              <a:spcBef>
                <a:spcPts val="800"/>
              </a:spcBef>
              <a:defRPr sz="1200" b="1">
                <a:solidFill>
                  <a:srgbClr val="00F2FE"/>
                </a:solidFill>
                <a:latin typeface="Segoe UI"/>
              </a:defRPr>
            </a:pPr>
            <a:r>
              <a:t>✦ Multimodal Sensory Perception</a:t>
            </a:r>
          </a:p>
          <a:p>
            <a:pPr>
              <a:defRPr sz="1050">
                <a:solidFill>
                  <a:srgbClr val="94A3B8"/>
                </a:solidFill>
                <a:latin typeface="Segoe UI"/>
              </a:defRPr>
            </a:pPr>
            <a:r>
              <a:t>   Real-time webcam video feed with ONNX facial emotion recognition (FER+) and real-time hand gesture shortcut recognition.</a:t>
            </a:r>
          </a:p>
          <a:p>
            <a:pPr>
              <a:spcBef>
                <a:spcPts val="800"/>
              </a:spcBef>
              <a:defRPr sz="1200" b="1">
                <a:solidFill>
                  <a:srgbClr val="00F2FE"/>
                </a:solidFill>
                <a:latin typeface="Segoe UI"/>
              </a:defRPr>
            </a:pPr>
            <a:r>
              <a:t>✦ Asynchronous Decoupled Concurrency</a:t>
            </a:r>
          </a:p>
          <a:p>
            <a:pPr>
              <a:defRPr sz="1050">
                <a:solidFill>
                  <a:srgbClr val="94A3B8"/>
                </a:solidFill>
                <a:latin typeface="Segoe UI"/>
              </a:defRPr>
            </a:pPr>
            <a:r>
              <a:t>   A publish-subscribe MultimodalEventBus dispatching signals between threads with zero UI blocking, powering 60 FPS JavaFX HUD.</a:t>
            </a:r>
          </a:p>
          <a:p>
            <a:pPr>
              <a:spcBef>
                <a:spcPts val="800"/>
              </a:spcBef>
              <a:defRPr sz="1200" b="1">
                <a:solidFill>
                  <a:srgbClr val="00F2FE"/>
                </a:solidFill>
                <a:latin typeface="Segoe UI"/>
              </a:defRPr>
            </a:pPr>
            <a:r>
              <a:t>✦ Closed-Loop Adaptive Personalization</a:t>
            </a:r>
          </a:p>
          <a:p>
            <a:pPr>
              <a:defRPr sz="1050">
                <a:solidFill>
                  <a:srgbClr val="94A3B8"/>
                </a:solidFill>
                <a:latin typeface="Segoe UI"/>
              </a:defRPr>
            </a:pPr>
            <a:r>
              <a:t>   Self-evolving user profile that uses LLM synthesis over interaction batches to adapt persona tone without inflating token counts.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SYSTEM ARCHITECTURE</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System Architecture: 3-Tier Multimodal Subsystems</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04 / 16</a:t>
            </a:r>
          </a:p>
        </p:txBody>
      </p:sp>
      <p:sp>
        <p:nvSpPr>
          <p:cNvPr id="8" name="Rounded Rectangle 7"/>
          <p:cNvSpPr/>
          <p:nvPr/>
        </p:nvSpPr>
        <p:spPr>
          <a:xfrm>
            <a:off x="731520" y="1828800"/>
            <a:ext cx="347472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00F2FE"/>
                </a:solidFill>
                <a:latin typeface="Segoe UI"/>
              </a:defRPr>
            </a:pPr>
            <a:r>
              <a:t>INPUT PERCEPTION TIER</a:t>
            </a:r>
          </a:p>
          <a:p>
            <a:pPr>
              <a:spcBef>
                <a:spcPts val="600"/>
              </a:spcBef>
              <a:defRPr sz="1100" b="1">
                <a:solidFill>
                  <a:srgbClr val="F8FAFC"/>
                </a:solidFill>
                <a:latin typeface="Segoe UI"/>
              </a:defRPr>
            </a:pPr>
            <a:r>
              <a:t>▶ Webcam Video Feed</a:t>
            </a:r>
          </a:p>
          <a:p>
            <a:pPr>
              <a:defRPr sz="950">
                <a:solidFill>
                  <a:srgbClr val="94A3B8"/>
                </a:solidFill>
                <a:latin typeface="Segoe UI"/>
              </a:defRPr>
            </a:pPr>
            <a:r>
              <a:t>   OpenCV / JavaCV native capture at 30 FPS</a:t>
            </a:r>
          </a:p>
          <a:p>
            <a:pPr>
              <a:spcBef>
                <a:spcPts val="600"/>
              </a:spcBef>
              <a:defRPr sz="1100" b="1">
                <a:solidFill>
                  <a:srgbClr val="F8FAFC"/>
                </a:solidFill>
                <a:latin typeface="Segoe UI"/>
              </a:defRPr>
            </a:pPr>
            <a:r>
              <a:t>▶ Facial Emotion Inference</a:t>
            </a:r>
          </a:p>
          <a:p>
            <a:pPr>
              <a:defRPr sz="950">
                <a:solidFill>
                  <a:srgbClr val="94A3B8"/>
                </a:solidFill>
                <a:latin typeface="Segoe UI"/>
              </a:defRPr>
            </a:pPr>
            <a:r>
              <a:t>   FER+ ONNX classification (6 emotional states)</a:t>
            </a:r>
          </a:p>
          <a:p>
            <a:pPr>
              <a:spcBef>
                <a:spcPts val="600"/>
              </a:spcBef>
              <a:defRPr sz="1100" b="1">
                <a:solidFill>
                  <a:srgbClr val="F8FAFC"/>
                </a:solidFill>
                <a:latin typeface="Segoe UI"/>
              </a:defRPr>
            </a:pPr>
            <a:r>
              <a:t>▶ Hand Gesture Detection</a:t>
            </a:r>
          </a:p>
          <a:p>
            <a:pPr>
              <a:defRPr sz="950">
                <a:solidFill>
                  <a:srgbClr val="94A3B8"/>
                </a:solidFill>
                <a:latin typeface="Segoe UI"/>
              </a:defRPr>
            </a:pPr>
            <a:r>
              <a:t>   Convexity / contour shortcuts (Thumbs-up, Palm)</a:t>
            </a:r>
          </a:p>
          <a:p>
            <a:pPr>
              <a:spcBef>
                <a:spcPts val="600"/>
              </a:spcBef>
              <a:defRPr sz="1100" b="1">
                <a:solidFill>
                  <a:srgbClr val="F8FAFC"/>
                </a:solidFill>
                <a:latin typeface="Segoe UI"/>
              </a:defRPr>
            </a:pPr>
            <a:r>
              <a:t>▶ Acoustic Audio Stream</a:t>
            </a:r>
          </a:p>
          <a:p>
            <a:pPr>
              <a:defRPr sz="950">
                <a:solidFill>
                  <a:srgbClr val="94A3B8"/>
                </a:solidFill>
                <a:latin typeface="Segoe UI"/>
              </a:defRPr>
            </a:pPr>
            <a:r>
              <a:t>   Vosk STT 16kHz mono + Porcupine wake word</a:t>
            </a:r>
          </a:p>
        </p:txBody>
      </p:sp>
      <p:sp>
        <p:nvSpPr>
          <p:cNvPr id="9" name="Rounded Rectangle 8"/>
          <p:cNvSpPr/>
          <p:nvPr/>
        </p:nvSpPr>
        <p:spPr>
          <a:xfrm>
            <a:off x="4343400" y="1828800"/>
            <a:ext cx="3474720" cy="4297680"/>
          </a:xfrm>
          <a:prstGeom prst="roundRect">
            <a:avLst/>
          </a:prstGeom>
          <a:solidFill>
            <a:srgbClr val="0E172A"/>
          </a:solidFill>
          <a:ln w="15240">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9B51E0"/>
                </a:solidFill>
                <a:latin typeface="Segoe UI"/>
              </a:defRPr>
            </a:pPr>
            <a:r>
              <a:t>CENTRAL BRAIN &amp; CONTROL</a:t>
            </a:r>
          </a:p>
          <a:p>
            <a:pPr>
              <a:spcBef>
                <a:spcPts val="600"/>
              </a:spcBef>
              <a:defRPr sz="1100" b="1">
                <a:solidFill>
                  <a:srgbClr val="F8FAFC"/>
                </a:solidFill>
                <a:latin typeface="Segoe UI"/>
              </a:defRPr>
            </a:pPr>
            <a:r>
              <a:t>▶ NexusCore Engine</a:t>
            </a:r>
          </a:p>
          <a:p>
            <a:pPr>
              <a:defRPr sz="950">
                <a:solidFill>
                  <a:srgbClr val="94A3B8"/>
                </a:solidFill>
                <a:latin typeface="Segoe UI"/>
              </a:defRPr>
            </a:pPr>
            <a:r>
              <a:t>   Thread orchestration, state machine &amp; lifecycle</a:t>
            </a:r>
          </a:p>
          <a:p>
            <a:pPr>
              <a:spcBef>
                <a:spcPts val="600"/>
              </a:spcBef>
              <a:defRPr sz="1100" b="1">
                <a:solidFill>
                  <a:srgbClr val="F8FAFC"/>
                </a:solidFill>
                <a:latin typeface="Segoe UI"/>
              </a:defRPr>
            </a:pPr>
            <a:r>
              <a:t>▶ MultimodalEventBus</a:t>
            </a:r>
          </a:p>
          <a:p>
            <a:pPr>
              <a:defRPr sz="950">
                <a:solidFill>
                  <a:srgbClr val="94A3B8"/>
                </a:solidFill>
                <a:latin typeface="Segoe UI"/>
              </a:defRPr>
            </a:pPr>
            <a:r>
              <a:t>   Thread-safe Pub/Sub routing (zero UI blocking)</a:t>
            </a:r>
          </a:p>
          <a:p>
            <a:pPr>
              <a:spcBef>
                <a:spcPts val="600"/>
              </a:spcBef>
              <a:defRPr sz="1100" b="1">
                <a:solidFill>
                  <a:srgbClr val="F8FAFC"/>
                </a:solidFill>
                <a:latin typeface="Segoe UI"/>
              </a:defRPr>
            </a:pPr>
            <a:r>
              <a:t>▶ PersonalizationEngine</a:t>
            </a:r>
          </a:p>
          <a:p>
            <a:pPr>
              <a:defRPr sz="950">
                <a:solidFill>
                  <a:srgbClr val="94A3B8"/>
                </a:solidFill>
                <a:latin typeface="Segoe UI"/>
              </a:defRPr>
            </a:pPr>
            <a:r>
              <a:t>   Closed-loop behavioral learning via SQLite JDBC</a:t>
            </a:r>
          </a:p>
          <a:p>
            <a:pPr>
              <a:spcBef>
                <a:spcPts val="600"/>
              </a:spcBef>
              <a:defRPr sz="1100" b="1">
                <a:solidFill>
                  <a:srgbClr val="F8FAFC"/>
                </a:solidFill>
                <a:latin typeface="Segoe UI"/>
              </a:defRPr>
            </a:pPr>
            <a:r>
              <a:t>▶ PromptContextBuilder</a:t>
            </a:r>
          </a:p>
          <a:p>
            <a:pPr>
              <a:defRPr sz="950">
                <a:solidFill>
                  <a:srgbClr val="94A3B8"/>
                </a:solidFill>
                <a:latin typeface="Segoe UI"/>
              </a:defRPr>
            </a:pPr>
            <a:r>
              <a:t>   Dynamic bounded context injection (6 turns + persona)</a:t>
            </a:r>
          </a:p>
        </p:txBody>
      </p:sp>
      <p:sp>
        <p:nvSpPr>
          <p:cNvPr id="10" name="Rounded Rectangle 9"/>
          <p:cNvSpPr/>
          <p:nvPr/>
        </p:nvSpPr>
        <p:spPr>
          <a:xfrm>
            <a:off x="7955280" y="1828800"/>
            <a:ext cx="3474720" cy="429768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00FF87"/>
                </a:solidFill>
                <a:latin typeface="Segoe UI"/>
              </a:defRPr>
            </a:pPr>
            <a:r>
              <a:t>OUTPUT &amp; ACTION TIER</a:t>
            </a:r>
          </a:p>
          <a:p>
            <a:pPr>
              <a:spcBef>
                <a:spcPts val="600"/>
              </a:spcBef>
              <a:defRPr sz="1100" b="1">
                <a:solidFill>
                  <a:srgbClr val="F8FAFC"/>
                </a:solidFill>
                <a:latin typeface="Segoe UI"/>
              </a:defRPr>
            </a:pPr>
            <a:r>
              <a:t>▶ JavaFX 21 Cyberpunk HUD</a:t>
            </a:r>
          </a:p>
          <a:p>
            <a:pPr>
              <a:defRPr sz="950">
                <a:solidFill>
                  <a:srgbClr val="94A3B8"/>
                </a:solidFill>
                <a:latin typeface="Segoe UI"/>
              </a:defRPr>
            </a:pPr>
            <a:r>
              <a:t>   Hardware-accelerated 60 FPS canvas interface</a:t>
            </a:r>
          </a:p>
          <a:p>
            <a:pPr>
              <a:spcBef>
                <a:spcPts val="600"/>
              </a:spcBef>
              <a:defRPr sz="1100" b="1">
                <a:solidFill>
                  <a:srgbClr val="F8FAFC"/>
                </a:solidFill>
                <a:latin typeface="Segoe UI"/>
              </a:defRPr>
            </a:pPr>
            <a:r>
              <a:t>▶ Audio Visualizer Canvas</a:t>
            </a:r>
          </a:p>
          <a:p>
            <a:pPr>
              <a:defRPr sz="950">
                <a:solidFill>
                  <a:srgbClr val="94A3B8"/>
                </a:solidFill>
                <a:latin typeface="Segoe UI"/>
              </a:defRPr>
            </a:pPr>
            <a:r>
              <a:t>   Real-time reactive waveform frequency bars</a:t>
            </a:r>
          </a:p>
          <a:p>
            <a:pPr>
              <a:spcBef>
                <a:spcPts val="600"/>
              </a:spcBef>
              <a:defRPr sz="1100" b="1">
                <a:solidFill>
                  <a:srgbClr val="F8FAFC"/>
                </a:solidFill>
                <a:latin typeface="Segoe UI"/>
              </a:defRPr>
            </a:pPr>
            <a:r>
              <a:t>▶ Dual-Path Speech Synthesis</a:t>
            </a:r>
          </a:p>
          <a:p>
            <a:pPr>
              <a:defRPr sz="950">
                <a:solidFill>
                  <a:srgbClr val="94A3B8"/>
                </a:solidFill>
                <a:latin typeface="Segoe UI"/>
              </a:defRPr>
            </a:pPr>
            <a:r>
              <a:t>   Piper neural TTS + Windows SAPI speech fallback</a:t>
            </a:r>
          </a:p>
          <a:p>
            <a:pPr>
              <a:spcBef>
                <a:spcPts val="600"/>
              </a:spcBef>
              <a:defRPr sz="1100" b="1">
                <a:solidFill>
                  <a:srgbClr val="F8FAFC"/>
                </a:solidFill>
                <a:latin typeface="Segoe UI"/>
              </a:defRPr>
            </a:pPr>
            <a:r>
              <a:t>▶ Explainable UI Inspector</a:t>
            </a:r>
          </a:p>
          <a:p>
            <a:pPr>
              <a:defRPr sz="950">
                <a:solidFill>
                  <a:srgbClr val="94A3B8"/>
                </a:solidFill>
                <a:latin typeface="Segoe UI"/>
              </a:defRPr>
            </a:pPr>
            <a:r>
              <a:t>   Live telemetry gauges &amp; user profile inspector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CONCURRENCY ENGINEERING</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Concurrency Model: Zero-GIL Asynchronous Event Bus</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05 / 16</a:t>
            </a:r>
          </a:p>
        </p:txBody>
      </p:sp>
      <p:sp>
        <p:nvSpPr>
          <p:cNvPr id="8" name="Rounded Rectangle 7"/>
          <p:cNvSpPr/>
          <p:nvPr/>
        </p:nvSpPr>
        <p:spPr>
          <a:xfrm>
            <a:off x="731520" y="1828800"/>
            <a:ext cx="594360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500" b="1">
                <a:solidFill>
                  <a:srgbClr val="00F2FE"/>
                </a:solidFill>
                <a:latin typeface="Segoe UI"/>
              </a:defRPr>
            </a:pPr>
            <a:r>
              <a:t>Thread Allocation &amp; Synchronization Pipeline</a:t>
            </a:r>
          </a:p>
          <a:p>
            <a:pPr>
              <a:spcBef>
                <a:spcPts val="400"/>
              </a:spcBef>
              <a:defRPr sz="1050" b="1">
                <a:solidFill>
                  <a:srgbClr val="F8FAFC"/>
                </a:solidFill>
                <a:latin typeface="Segoe UI"/>
              </a:defRPr>
            </a:pPr>
            <a:r>
              <a:t>⚙ Vision Thread (Daemon) [Scheduled pool at 30 FPS]</a:t>
            </a:r>
          </a:p>
          <a:p>
            <a:pPr>
              <a:defRPr sz="950">
                <a:solidFill>
                  <a:srgbClr val="94A3B8"/>
                </a:solidFill>
                <a:latin typeface="Segoe UI"/>
              </a:defRPr>
            </a:pPr>
            <a:r>
              <a:t>   ↳ OpenCV grab -&gt; ONNX FER+ -&gt; MoodDetectedEvent</a:t>
            </a:r>
          </a:p>
          <a:p>
            <a:pPr>
              <a:spcBef>
                <a:spcPts val="400"/>
              </a:spcBef>
              <a:defRPr sz="1050" b="1">
                <a:solidFill>
                  <a:srgbClr val="F8FAFC"/>
                </a:solidFill>
                <a:latin typeface="Segoe UI"/>
              </a:defRPr>
            </a:pPr>
            <a:r>
              <a:t>⚙ Audio In Thread (Daemon) [Continuous PCM stream]</a:t>
            </a:r>
          </a:p>
          <a:p>
            <a:pPr>
              <a:defRPr sz="950">
                <a:solidFill>
                  <a:srgbClr val="94A3B8"/>
                </a:solidFill>
                <a:latin typeface="Segoe UI"/>
              </a:defRPr>
            </a:pPr>
            <a:r>
              <a:t>   ↳ Vosk acoustic recognizer -&gt; UserInputEvent</a:t>
            </a:r>
          </a:p>
          <a:p>
            <a:pPr>
              <a:spcBef>
                <a:spcPts val="400"/>
              </a:spcBef>
              <a:defRPr sz="1050" b="1">
                <a:solidFill>
                  <a:srgbClr val="F8FAFC"/>
                </a:solidFill>
                <a:latin typeface="Segoe UI"/>
              </a:defRPr>
            </a:pPr>
            <a:r>
              <a:t>⚙ Core EventBus Dispatch [Thread-safe concurrent queues]</a:t>
            </a:r>
          </a:p>
          <a:p>
            <a:pPr>
              <a:defRPr sz="950">
                <a:solidFill>
                  <a:srgbClr val="94A3B8"/>
                </a:solidFill>
                <a:latin typeface="Segoe UI"/>
              </a:defRPr>
            </a:pPr>
            <a:r>
              <a:t>   ↳ Routes events to subscribers without blocking</a:t>
            </a:r>
          </a:p>
          <a:p>
            <a:pPr>
              <a:spcBef>
                <a:spcPts val="400"/>
              </a:spcBef>
              <a:defRPr sz="1050" b="1">
                <a:solidFill>
                  <a:srgbClr val="F8FAFC"/>
                </a:solidFill>
                <a:latin typeface="Segoe UI"/>
              </a:defRPr>
            </a:pPr>
            <a:r>
              <a:t>⚙ HTTP/2 LLM Worker [ForkJoinPool worker]</a:t>
            </a:r>
          </a:p>
          <a:p>
            <a:pPr>
              <a:defRPr sz="950">
                <a:solidFill>
                  <a:srgbClr val="94A3B8"/>
                </a:solidFill>
                <a:latin typeface="Segoe UI"/>
              </a:defRPr>
            </a:pPr>
            <a:r>
              <a:t>   ↳ Non-blocking OpenAI/Ollama call -&gt; AssistantResponseEvent</a:t>
            </a:r>
          </a:p>
          <a:p>
            <a:pPr>
              <a:spcBef>
                <a:spcPts val="400"/>
              </a:spcBef>
              <a:defRPr sz="1050" b="1">
                <a:solidFill>
                  <a:srgbClr val="F8FAFC"/>
                </a:solidFill>
                <a:latin typeface="Segoe UI"/>
              </a:defRPr>
            </a:pPr>
            <a:r>
              <a:t>⚙ TTS Audio Thread [Dedicated ExecutorService]</a:t>
            </a:r>
          </a:p>
          <a:p>
            <a:pPr>
              <a:defRPr sz="950">
                <a:solidFill>
                  <a:srgbClr val="94A3B8"/>
                </a:solidFill>
                <a:latin typeface="Segoe UI"/>
              </a:defRPr>
            </a:pPr>
            <a:r>
              <a:t>   ↳ Piper / Windows SAPI audio synthesis</a:t>
            </a:r>
          </a:p>
          <a:p>
            <a:pPr>
              <a:spcBef>
                <a:spcPts val="400"/>
              </a:spcBef>
              <a:defRPr sz="1050" b="1">
                <a:solidFill>
                  <a:srgbClr val="F8FAFC"/>
                </a:solidFill>
                <a:latin typeface="Segoe UI"/>
              </a:defRPr>
            </a:pPr>
            <a:r>
              <a:t>⚙ JavaFX UI Thread [Hardware-accelerated FX loop]</a:t>
            </a:r>
          </a:p>
          <a:p>
            <a:pPr>
              <a:defRPr sz="950">
                <a:solidFill>
                  <a:srgbClr val="94A3B8"/>
                </a:solidFill>
                <a:latin typeface="Segoe UI"/>
              </a:defRPr>
            </a:pPr>
            <a:r>
              <a:t>   ↳ Platform.runLater() -&gt; 60 FPS Canvas rendering</a:t>
            </a:r>
          </a:p>
        </p:txBody>
      </p:sp>
      <p:sp>
        <p:nvSpPr>
          <p:cNvPr id="9" name="Rounded Rectangle 8"/>
          <p:cNvSpPr/>
          <p:nvPr/>
        </p:nvSpPr>
        <p:spPr>
          <a:xfrm>
            <a:off x="6949440" y="1828800"/>
            <a:ext cx="4480560" cy="4297680"/>
          </a:xfrm>
          <a:prstGeom prst="roundRect">
            <a:avLst/>
          </a:prstGeom>
          <a:solidFill>
            <a:srgbClr val="0E17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F59E0B"/>
                </a:solidFill>
                <a:latin typeface="Segoe UI"/>
              </a:defRPr>
            </a:pPr>
            <a:r>
              <a:t>Viva Defense: Thread Safety Guarantees</a:t>
            </a:r>
          </a:p>
          <a:p>
            <a:pPr>
              <a:spcBef>
                <a:spcPts val="600"/>
              </a:spcBef>
              <a:defRPr sz="1100" b="1">
                <a:solidFill>
                  <a:srgbClr val="F8FAFC"/>
                </a:solidFill>
                <a:latin typeface="Segoe UI"/>
              </a:defRPr>
            </a:pPr>
            <a:r>
              <a:t>✔ No UI Freezes (60 FPS)</a:t>
            </a:r>
          </a:p>
          <a:p>
            <a:pPr>
              <a:defRPr sz="950">
                <a:solidFill>
                  <a:srgbClr val="94A3B8"/>
                </a:solidFill>
                <a:latin typeface="Segoe UI"/>
              </a:defRPr>
            </a:pPr>
            <a:r>
              <a:t>   The JavaFX application thread NEVER executes network I/O, audio decoding, or neural inference. Heavy loads stay strictly off the render loop.</a:t>
            </a:r>
          </a:p>
          <a:p>
            <a:pPr>
              <a:spcBef>
                <a:spcPts val="600"/>
              </a:spcBef>
              <a:defRPr sz="1100" b="1">
                <a:solidFill>
                  <a:srgbClr val="F8FAFC"/>
                </a:solidFill>
                <a:latin typeface="Segoe UI"/>
              </a:defRPr>
            </a:pPr>
            <a:r>
              <a:t>✔ Thread Isolation via Platform.runLater()</a:t>
            </a:r>
          </a:p>
          <a:p>
            <a:pPr>
              <a:defRPr sz="950">
                <a:solidFill>
                  <a:srgbClr val="94A3B8"/>
                </a:solidFill>
                <a:latin typeface="Segoe UI"/>
              </a:defRPr>
            </a:pPr>
            <a:r>
              <a:t>   Cross-thread GUI modifications are dispatched via JavaFX runLater queues, preventing IllegalStateException crashes.</a:t>
            </a:r>
          </a:p>
          <a:p>
            <a:pPr>
              <a:spcBef>
                <a:spcPts val="600"/>
              </a:spcBef>
              <a:defRPr sz="1100" b="1">
                <a:solidFill>
                  <a:srgbClr val="F8FAFC"/>
                </a:solidFill>
                <a:latin typeface="Segoe UI"/>
              </a:defRPr>
            </a:pPr>
            <a:r>
              <a:t>✔ Graceful Shutdown Hooks</a:t>
            </a:r>
          </a:p>
          <a:p>
            <a:pPr>
              <a:defRPr sz="950">
                <a:solidFill>
                  <a:srgbClr val="94A3B8"/>
                </a:solidFill>
                <a:latin typeface="Segoe UI"/>
              </a:defRPr>
            </a:pPr>
            <a:r>
              <a:t>   Java Runtime shutdown hooks and Stage.setOnCloseRequest guarantee all camera handles and audio daemons terminate cleanly with zero zombie processes.</a:t>
            </a:r>
          </a:p>
          <a:p>
            <a:pPr>
              <a:spcBef>
                <a:spcPts val="600"/>
              </a:spcBef>
              <a:defRPr sz="1100" b="1">
                <a:solidFill>
                  <a:srgbClr val="F8FAFC"/>
                </a:solidFill>
                <a:latin typeface="Segoe UI"/>
              </a:defRPr>
            </a:pPr>
            <a:r>
              <a:t>✔ Deadlock Prevention</a:t>
            </a:r>
          </a:p>
          <a:p>
            <a:pPr>
              <a:defRPr sz="950">
                <a:solidFill>
                  <a:srgbClr val="94A3B8"/>
                </a:solidFill>
                <a:latin typeface="Segoe UI"/>
              </a:defRPr>
            </a:pPr>
            <a:r>
              <a:t>   Event handlers are non-blocking and fire-and-forget; no synchronized lock cascading across subsystems.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COMPUTER VISION SUBSYSTEM</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Visual Perception: Face Detection &amp; ONNX FER+ Classification</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06 / 16</a:t>
            </a:r>
          </a:p>
        </p:txBody>
      </p:sp>
      <p:sp>
        <p:nvSpPr>
          <p:cNvPr id="8" name="Rounded Rectangle 7"/>
          <p:cNvSpPr/>
          <p:nvPr/>
        </p:nvSpPr>
        <p:spPr>
          <a:xfrm>
            <a:off x="731520" y="1828800"/>
            <a:ext cx="347472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00F2FE"/>
                </a:solidFill>
                <a:latin typeface="Segoe UI"/>
              </a:defRPr>
            </a:pPr>
            <a:r>
              <a:t>Webcam Capture Pipeline</a:t>
            </a:r>
          </a:p>
          <a:p>
            <a:pPr>
              <a:spcBef>
                <a:spcPts val="600"/>
              </a:spcBef>
              <a:defRPr sz="1100" b="1">
                <a:solidFill>
                  <a:srgbClr val="F8FAFC"/>
                </a:solidFill>
                <a:latin typeface="Segoe UI"/>
              </a:defRPr>
            </a:pPr>
            <a:r>
              <a:t>◈ Native OpenCV VideoCapture</a:t>
            </a:r>
          </a:p>
          <a:p>
            <a:pPr>
              <a:defRPr sz="950">
                <a:solidFill>
                  <a:srgbClr val="94A3B8"/>
                </a:solidFill>
                <a:latin typeface="Segoe UI"/>
              </a:defRPr>
            </a:pPr>
            <a:r>
              <a:t>   Captures raw frames at 640x480 resolution at 30 FPS.</a:t>
            </a:r>
          </a:p>
          <a:p>
            <a:pPr>
              <a:spcBef>
                <a:spcPts val="600"/>
              </a:spcBef>
              <a:defRPr sz="1100" b="1">
                <a:solidFill>
                  <a:srgbClr val="F8FAFC"/>
                </a:solidFill>
                <a:latin typeface="Segoe UI"/>
              </a:defRPr>
            </a:pPr>
            <a:r>
              <a:t>◈ RGB / BGR Color Space Conversion</a:t>
            </a:r>
          </a:p>
          <a:p>
            <a:pPr>
              <a:defRPr sz="950">
                <a:solidFill>
                  <a:srgbClr val="94A3B8"/>
                </a:solidFill>
                <a:latin typeface="Segoe UI"/>
              </a:defRPr>
            </a:pPr>
            <a:r>
              <a:t>   Converts OpenCV BGR matrices to JavaFX Image buffers.</a:t>
            </a:r>
          </a:p>
          <a:p>
            <a:pPr>
              <a:spcBef>
                <a:spcPts val="600"/>
              </a:spcBef>
              <a:defRPr sz="1100" b="1">
                <a:solidFill>
                  <a:srgbClr val="F8FAFC"/>
                </a:solidFill>
                <a:latin typeface="Segoe UI"/>
              </a:defRPr>
            </a:pPr>
            <a:r>
              <a:t>◈ Zero-Hardware Fallback Simulation</a:t>
            </a:r>
          </a:p>
          <a:p>
            <a:pPr>
              <a:defRPr sz="950">
                <a:solidFill>
                  <a:srgbClr val="94A3B8"/>
                </a:solidFill>
                <a:latin typeface="Segoe UI"/>
              </a:defRPr>
            </a:pPr>
            <a:r>
              <a:t>   If camera is disconnected or blocked, engages a simulated cybernetic sensor canvas with targeting reticles.</a:t>
            </a:r>
          </a:p>
        </p:txBody>
      </p:sp>
      <p:sp>
        <p:nvSpPr>
          <p:cNvPr id="9" name="Rounded Rectangle 8"/>
          <p:cNvSpPr/>
          <p:nvPr/>
        </p:nvSpPr>
        <p:spPr>
          <a:xfrm>
            <a:off x="4343400" y="1828800"/>
            <a:ext cx="3474720" cy="4297680"/>
          </a:xfrm>
          <a:prstGeom prst="roundRect">
            <a:avLst/>
          </a:prstGeom>
          <a:solidFill>
            <a:srgbClr val="0E172A"/>
          </a:solidFill>
          <a:ln w="15240">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9B51E0"/>
                </a:solidFill>
                <a:latin typeface="Segoe UI"/>
              </a:defRPr>
            </a:pPr>
            <a:r>
              <a:t>Face Isolation &amp; Preprocessing</a:t>
            </a:r>
          </a:p>
          <a:p>
            <a:pPr>
              <a:spcBef>
                <a:spcPts val="600"/>
              </a:spcBef>
              <a:defRPr sz="1100" b="1">
                <a:solidFill>
                  <a:srgbClr val="F8FAFC"/>
                </a:solidFill>
                <a:latin typeface="Segoe UI"/>
              </a:defRPr>
            </a:pPr>
            <a:r>
              <a:t>◈ Haar Cascade Classifier</a:t>
            </a:r>
          </a:p>
          <a:p>
            <a:pPr>
              <a:defRPr sz="950">
                <a:solidFill>
                  <a:srgbClr val="94A3B8"/>
                </a:solidFill>
                <a:latin typeface="Segoe UI"/>
              </a:defRPr>
            </a:pPr>
            <a:r>
              <a:t>   Frontal face detector (haarcascade_frontalface_default.xml) crops region-of-interest (ROI).</a:t>
            </a:r>
          </a:p>
          <a:p>
            <a:pPr>
              <a:spcBef>
                <a:spcPts val="600"/>
              </a:spcBef>
              <a:defRPr sz="1100" b="1">
                <a:solidFill>
                  <a:srgbClr val="F8FAFC"/>
                </a:solidFill>
                <a:latin typeface="Segoe UI"/>
              </a:defRPr>
            </a:pPr>
            <a:r>
              <a:t>◈ Grayscale Normalization</a:t>
            </a:r>
          </a:p>
          <a:p>
            <a:pPr>
              <a:defRPr sz="950">
                <a:solidFill>
                  <a:srgbClr val="94A3B8"/>
                </a:solidFill>
                <a:latin typeface="Segoe UI"/>
              </a:defRPr>
            </a:pPr>
            <a:r>
              <a:t>   Resizes face ROI to 64x64 pixels, converts to single-channel float array normalized to [-1.0, 1.0].</a:t>
            </a:r>
          </a:p>
          <a:p>
            <a:pPr>
              <a:spcBef>
                <a:spcPts val="600"/>
              </a:spcBef>
              <a:defRPr sz="1100" b="1">
                <a:solidFill>
                  <a:srgbClr val="F8FAFC"/>
                </a:solidFill>
                <a:latin typeface="Segoe UI"/>
              </a:defRPr>
            </a:pPr>
            <a:r>
              <a:t>◈ Bounding Box Telemetry</a:t>
            </a:r>
          </a:p>
          <a:p>
            <a:pPr>
              <a:defRPr sz="950">
                <a:solidFill>
                  <a:srgbClr val="94A3B8"/>
                </a:solidFill>
                <a:latin typeface="Segoe UI"/>
              </a:defRPr>
            </a:pPr>
            <a:r>
              <a:t>   Outputs (x, y, w, h) coordinates rendered as cybernetic brackets on the HUD.</a:t>
            </a:r>
          </a:p>
        </p:txBody>
      </p:sp>
      <p:sp>
        <p:nvSpPr>
          <p:cNvPr id="10" name="Rounded Rectangle 9"/>
          <p:cNvSpPr/>
          <p:nvPr/>
        </p:nvSpPr>
        <p:spPr>
          <a:xfrm>
            <a:off x="7955280" y="1828800"/>
            <a:ext cx="3474720" cy="429768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00FF87"/>
                </a:solidFill>
                <a:latin typeface="Segoe UI"/>
              </a:defRPr>
            </a:pPr>
            <a:r>
              <a:t>ONNX Runtime FER+ Inference</a:t>
            </a:r>
          </a:p>
          <a:p>
            <a:pPr>
              <a:spcBef>
                <a:spcPts val="600"/>
              </a:spcBef>
              <a:defRPr sz="1100" b="1">
                <a:solidFill>
                  <a:srgbClr val="F8FAFC"/>
                </a:solidFill>
                <a:latin typeface="Segoe UI"/>
              </a:defRPr>
            </a:pPr>
            <a:r>
              <a:t>◈ High-Performance Java C++ API</a:t>
            </a:r>
          </a:p>
          <a:p>
            <a:pPr>
              <a:defRPr sz="950">
                <a:solidFill>
                  <a:srgbClr val="94A3B8"/>
                </a:solidFill>
                <a:latin typeface="Segoe UI"/>
              </a:defRPr>
            </a:pPr>
            <a:r>
              <a:t>   ai.onnxruntime.OrtEnvironment executes inference in under 12 ms per frame.</a:t>
            </a:r>
          </a:p>
          <a:p>
            <a:pPr>
              <a:spcBef>
                <a:spcPts val="600"/>
              </a:spcBef>
              <a:defRPr sz="1100" b="1">
                <a:solidFill>
                  <a:srgbClr val="F8FAFC"/>
                </a:solidFill>
                <a:latin typeface="Segoe UI"/>
              </a:defRPr>
            </a:pPr>
            <a:r>
              <a:t>◈ 6 Emotion Classes Classified</a:t>
            </a:r>
          </a:p>
          <a:p>
            <a:pPr>
              <a:defRPr sz="950">
                <a:solidFill>
                  <a:srgbClr val="94A3B8"/>
                </a:solidFill>
                <a:latin typeface="Segoe UI"/>
              </a:defRPr>
            </a:pPr>
            <a:r>
              <a:t>   FOCUSED, HAPPY, STRESSED, NEUTRAL, SURPRISED, SAD.</a:t>
            </a:r>
          </a:p>
          <a:p>
            <a:pPr>
              <a:spcBef>
                <a:spcPts val="600"/>
              </a:spcBef>
              <a:defRPr sz="1100" b="1">
                <a:solidFill>
                  <a:srgbClr val="F8FAFC"/>
                </a:solidFill>
                <a:latin typeface="Segoe UI"/>
              </a:defRPr>
            </a:pPr>
            <a:r>
              <a:t>◈ Temporal Window Smoothing</a:t>
            </a:r>
          </a:p>
          <a:p>
            <a:pPr>
              <a:defRPr sz="950">
                <a:solidFill>
                  <a:srgbClr val="94A3B8"/>
                </a:solidFill>
                <a:latin typeface="Segoe UI"/>
              </a:defRPr>
            </a:pPr>
            <a:r>
              <a:t>   Moving average over 5 frames eliminates single-frame flickers and lighting noise.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GESTURE SUBSYSTEM</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Hands-Free Interaction: Hand Gesture Recognition &amp; Shortcuts</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07 / 16</a:t>
            </a:r>
          </a:p>
        </p:txBody>
      </p:sp>
      <p:sp>
        <p:nvSpPr>
          <p:cNvPr id="8" name="Rounded Rectangle 7"/>
          <p:cNvSpPr/>
          <p:nvPr/>
        </p:nvSpPr>
        <p:spPr>
          <a:xfrm>
            <a:off x="731520" y="1828800"/>
            <a:ext cx="621792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600" b="1">
                <a:solidFill>
                  <a:srgbClr val="00F2FE"/>
                </a:solidFill>
                <a:latin typeface="Segoe UI"/>
              </a:defRPr>
            </a:pPr>
            <a:r>
              <a:t>Supported Physical Gesture Mappings</a:t>
            </a:r>
          </a:p>
          <a:p>
            <a:pPr>
              <a:spcBef>
                <a:spcPts val="600"/>
              </a:spcBef>
              <a:defRPr sz="1150" b="1">
                <a:solidFill>
                  <a:srgbClr val="00FF87"/>
                </a:solidFill>
                <a:latin typeface="Segoe UI"/>
              </a:defRPr>
            </a:pPr>
            <a:r>
              <a:t>THUMBS_UP (👍) ➔ Acknowledge / Confirm</a:t>
            </a:r>
          </a:p>
          <a:p>
            <a:pPr>
              <a:defRPr sz="1000">
                <a:solidFill>
                  <a:srgbClr val="94A3B8"/>
                </a:solidFill>
                <a:latin typeface="Segoe UI"/>
              </a:defRPr>
            </a:pPr>
            <a:r>
              <a:t>   Confirms active assistant suggestions, submits forms, or acknowledges completed tasks without typing.</a:t>
            </a:r>
          </a:p>
          <a:p>
            <a:pPr>
              <a:spcBef>
                <a:spcPts val="600"/>
              </a:spcBef>
              <a:defRPr sz="1150" b="1">
                <a:solidFill>
                  <a:srgbClr val="00FF87"/>
                </a:solidFill>
                <a:latin typeface="Segoe UI"/>
              </a:defRPr>
            </a:pPr>
            <a:r>
              <a:t>STOP_PALM (✋) ➔ Mute / Pause Audio</a:t>
            </a:r>
          </a:p>
          <a:p>
            <a:pPr>
              <a:defRPr sz="1000">
                <a:solidFill>
                  <a:srgbClr val="94A3B8"/>
                </a:solidFill>
                <a:latin typeface="Segoe UI"/>
              </a:defRPr>
            </a:pPr>
            <a:r>
              <a:t>   Instantly halts text-to-speech voice playback or mutes microphone input stream.</a:t>
            </a:r>
          </a:p>
          <a:p>
            <a:pPr>
              <a:spcBef>
                <a:spcPts val="600"/>
              </a:spcBef>
              <a:defRPr sz="1150" b="1">
                <a:solidFill>
                  <a:srgbClr val="00FF87"/>
                </a:solidFill>
                <a:latin typeface="Segoe UI"/>
              </a:defRPr>
            </a:pPr>
            <a:r>
              <a:t>PEACE_SIGN (✌) ➔ Context Summarization</a:t>
            </a:r>
          </a:p>
          <a:p>
            <a:pPr>
              <a:defRPr sz="1000">
                <a:solidFill>
                  <a:srgbClr val="94A3B8"/>
                </a:solidFill>
                <a:latin typeface="Segoe UI"/>
              </a:defRPr>
            </a:pPr>
            <a:r>
              <a:t>   Triggers LLM to summarize recent conversation turns or current research topics into bullet points.</a:t>
            </a:r>
          </a:p>
          <a:p>
            <a:pPr>
              <a:spcBef>
                <a:spcPts val="600"/>
              </a:spcBef>
              <a:defRPr sz="1150" b="1">
                <a:solidFill>
                  <a:srgbClr val="00FF87"/>
                </a:solidFill>
                <a:latin typeface="Segoe UI"/>
              </a:defRPr>
            </a:pPr>
            <a:r>
              <a:t>POINT_UP (☝) ➔ Focus Mode Toggle</a:t>
            </a:r>
          </a:p>
          <a:p>
            <a:pPr>
              <a:defRPr sz="1000">
                <a:solidFill>
                  <a:srgbClr val="94A3B8"/>
                </a:solidFill>
                <a:latin typeface="Segoe UI"/>
              </a:defRPr>
            </a:pPr>
            <a:r>
              <a:t>   Enables focused workspace view, minimizing peripheral notifications and UI widgets.</a:t>
            </a:r>
          </a:p>
        </p:txBody>
      </p:sp>
      <p:sp>
        <p:nvSpPr>
          <p:cNvPr id="9" name="Rounded Rectangle 8"/>
          <p:cNvSpPr/>
          <p:nvPr/>
        </p:nvSpPr>
        <p:spPr>
          <a:xfrm>
            <a:off x="7223760" y="1828800"/>
            <a:ext cx="4206240" cy="4297680"/>
          </a:xfrm>
          <a:prstGeom prst="roundRect">
            <a:avLst/>
          </a:prstGeom>
          <a:solidFill>
            <a:srgbClr val="0E17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600" b="1">
                <a:solidFill>
                  <a:srgbClr val="F59E0B"/>
                </a:solidFill>
                <a:latin typeface="Segoe UI"/>
              </a:defRPr>
            </a:pPr>
            <a:r>
              <a:t>Gesture Classification Pipeline</a:t>
            </a:r>
          </a:p>
          <a:p>
            <a:pPr>
              <a:spcBef>
                <a:spcPts val="600"/>
              </a:spcBef>
              <a:defRPr sz="1100" b="1">
                <a:solidFill>
                  <a:srgbClr val="F8FAFC"/>
                </a:solidFill>
                <a:latin typeface="Segoe UI"/>
              </a:defRPr>
            </a:pPr>
            <a:r>
              <a:t>▶ 1. Hand Segmentation</a:t>
            </a:r>
          </a:p>
          <a:p>
            <a:pPr>
              <a:defRPr sz="950">
                <a:solidFill>
                  <a:srgbClr val="94A3B8"/>
                </a:solidFill>
                <a:latin typeface="Segoe UI"/>
              </a:defRPr>
            </a:pPr>
            <a:r>
              <a:t>   HSV skin color thresholding and morphological filtering isolate the hand contour.</a:t>
            </a:r>
          </a:p>
          <a:p>
            <a:pPr>
              <a:spcBef>
                <a:spcPts val="600"/>
              </a:spcBef>
              <a:defRPr sz="1100" b="1">
                <a:solidFill>
                  <a:srgbClr val="F8FAFC"/>
                </a:solidFill>
                <a:latin typeface="Segoe UI"/>
              </a:defRPr>
            </a:pPr>
            <a:r>
              <a:t>▶ 2. Convex Hull &amp; Defects</a:t>
            </a:r>
          </a:p>
          <a:p>
            <a:pPr>
              <a:defRPr sz="950">
                <a:solidFill>
                  <a:srgbClr val="94A3B8"/>
                </a:solidFill>
                <a:latin typeface="Segoe UI"/>
              </a:defRPr>
            </a:pPr>
            <a:r>
              <a:t>   Computes fingertip peaks and convexity valleys to count extended fingers.</a:t>
            </a:r>
          </a:p>
          <a:p>
            <a:pPr>
              <a:spcBef>
                <a:spcPts val="600"/>
              </a:spcBef>
              <a:defRPr sz="1100" b="1">
                <a:solidFill>
                  <a:srgbClr val="F8FAFC"/>
                </a:solidFill>
                <a:latin typeface="Segoe UI"/>
              </a:defRPr>
            </a:pPr>
            <a:r>
              <a:t>▶ 3. Debounce &amp; Cooldown</a:t>
            </a:r>
          </a:p>
          <a:p>
            <a:pPr>
              <a:defRPr sz="950">
                <a:solidFill>
                  <a:srgbClr val="94A3B8"/>
                </a:solidFill>
                <a:latin typeface="Segoe UI"/>
              </a:defRPr>
            </a:pPr>
            <a:r>
              <a:t>   500 ms cooldown timer prevents accidental multi-triggering from continuous video frames.</a:t>
            </a:r>
          </a:p>
          <a:p>
            <a:pPr>
              <a:spcBef>
                <a:spcPts val="600"/>
              </a:spcBef>
              <a:defRPr sz="1100" b="1">
                <a:solidFill>
                  <a:srgbClr val="F8FAFC"/>
                </a:solidFill>
                <a:latin typeface="Segoe UI"/>
              </a:defRPr>
            </a:pPr>
            <a:r>
              <a:t>▶ 4. EventBus Dispatch</a:t>
            </a:r>
          </a:p>
          <a:p>
            <a:pPr>
              <a:defRPr sz="950">
                <a:solidFill>
                  <a:srgbClr val="94A3B8"/>
                </a:solidFill>
                <a:latin typeface="Segoe UI"/>
              </a:defRPr>
            </a:pPr>
            <a:r>
              <a:t>   Dispatches GestureDetectedEvent directly into the orchestrator.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SPEECH SUBSYSTEM</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Speech I/O: Wake Word, Offline Vosk STT, &amp; Dual-Path TTS</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08 / 16</a:t>
            </a:r>
          </a:p>
        </p:txBody>
      </p:sp>
      <p:sp>
        <p:nvSpPr>
          <p:cNvPr id="8" name="Rounded Rectangle 7"/>
          <p:cNvSpPr/>
          <p:nvPr/>
        </p:nvSpPr>
        <p:spPr>
          <a:xfrm>
            <a:off x="731520" y="1828800"/>
            <a:ext cx="347472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00F2FE"/>
                </a:solidFill>
                <a:latin typeface="Segoe UI"/>
              </a:defRPr>
            </a:pPr>
            <a:r>
              <a:t>Wake Word Detection</a:t>
            </a:r>
          </a:p>
          <a:p>
            <a:pPr>
              <a:spcBef>
                <a:spcPts val="400"/>
              </a:spcBef>
              <a:defRPr sz="1050" b="1">
                <a:solidFill>
                  <a:srgbClr val="F8FAFC"/>
                </a:solidFill>
                <a:latin typeface="Segoe UI"/>
              </a:defRPr>
            </a:pPr>
            <a:r>
              <a:t>• Engine: </a:t>
            </a:r>
          </a:p>
          <a:p>
            <a:pPr>
              <a:defRPr sz="950">
                <a:solidFill>
                  <a:srgbClr val="94A3B8"/>
                </a:solidFill>
                <a:latin typeface="Segoe UI"/>
              </a:defRPr>
            </a:pPr>
            <a:r>
              <a:t>   Porcupine Wake Word SDK</a:t>
            </a:r>
          </a:p>
          <a:p>
            <a:pPr>
              <a:spcBef>
                <a:spcPts val="400"/>
              </a:spcBef>
              <a:defRPr sz="1050" b="1">
                <a:solidFill>
                  <a:srgbClr val="F8FAFC"/>
                </a:solidFill>
                <a:latin typeface="Segoe UI"/>
              </a:defRPr>
            </a:pPr>
            <a:r>
              <a:t>• Acoustic Footprint: </a:t>
            </a:r>
          </a:p>
          <a:p>
            <a:pPr>
              <a:defRPr sz="950">
                <a:solidFill>
                  <a:srgbClr val="94A3B8"/>
                </a:solidFill>
                <a:latin typeface="Segoe UI"/>
              </a:defRPr>
            </a:pPr>
            <a:r>
              <a:t>   Sub-10 ms latency, &lt; 15 MB RAM</a:t>
            </a:r>
          </a:p>
          <a:p>
            <a:pPr>
              <a:spcBef>
                <a:spcPts val="400"/>
              </a:spcBef>
              <a:defRPr sz="1050" b="1">
                <a:solidFill>
                  <a:srgbClr val="F8FAFC"/>
                </a:solidFill>
                <a:latin typeface="Segoe UI"/>
              </a:defRPr>
            </a:pPr>
            <a:r>
              <a:t>• Keywords: </a:t>
            </a:r>
          </a:p>
          <a:p>
            <a:pPr>
              <a:defRPr sz="950">
                <a:solidFill>
                  <a:srgbClr val="94A3B8"/>
                </a:solidFill>
                <a:latin typeface="Segoe UI"/>
              </a:defRPr>
            </a:pPr>
            <a:r>
              <a:t>   'Nexus', 'Hey Nexus'</a:t>
            </a:r>
          </a:p>
          <a:p>
            <a:pPr>
              <a:spcBef>
                <a:spcPts val="400"/>
              </a:spcBef>
              <a:defRPr sz="1050" b="1">
                <a:solidFill>
                  <a:srgbClr val="F8FAFC"/>
                </a:solidFill>
                <a:latin typeface="Segoe UI"/>
              </a:defRPr>
            </a:pPr>
            <a:r>
              <a:t>• Benefit: </a:t>
            </a:r>
          </a:p>
          <a:p>
            <a:pPr>
              <a:defRPr sz="950">
                <a:solidFill>
                  <a:srgbClr val="94A3B8"/>
                </a:solidFill>
                <a:latin typeface="Segoe UI"/>
              </a:defRPr>
            </a:pPr>
            <a:r>
              <a:t>   Always-listening background daemon that activates the full STT pipeline only when triggered, preserving CPU.</a:t>
            </a:r>
          </a:p>
        </p:txBody>
      </p:sp>
      <p:sp>
        <p:nvSpPr>
          <p:cNvPr id="9" name="Rounded Rectangle 8"/>
          <p:cNvSpPr/>
          <p:nvPr/>
        </p:nvSpPr>
        <p:spPr>
          <a:xfrm>
            <a:off x="4343400" y="1828800"/>
            <a:ext cx="3474720" cy="4297680"/>
          </a:xfrm>
          <a:prstGeom prst="roundRect">
            <a:avLst/>
          </a:prstGeom>
          <a:solidFill>
            <a:srgbClr val="0E172A"/>
          </a:solidFill>
          <a:ln w="15240">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9B51E0"/>
                </a:solidFill>
                <a:latin typeface="Segoe UI"/>
              </a:defRPr>
            </a:pPr>
            <a:r>
              <a:t>Speech-to-Text (STT)</a:t>
            </a:r>
          </a:p>
          <a:p>
            <a:pPr>
              <a:spcBef>
                <a:spcPts val="400"/>
              </a:spcBef>
              <a:defRPr sz="1050" b="1">
                <a:solidFill>
                  <a:srgbClr val="F8FAFC"/>
                </a:solidFill>
                <a:latin typeface="Segoe UI"/>
              </a:defRPr>
            </a:pPr>
            <a:r>
              <a:t>• Engine: </a:t>
            </a:r>
          </a:p>
          <a:p>
            <a:pPr>
              <a:defRPr sz="950">
                <a:solidFill>
                  <a:srgbClr val="94A3B8"/>
                </a:solidFill>
                <a:latin typeface="Segoe UI"/>
              </a:defRPr>
            </a:pPr>
            <a:r>
              <a:t>   Vosk Acoustic Recognizer (JNI)</a:t>
            </a:r>
          </a:p>
          <a:p>
            <a:pPr>
              <a:spcBef>
                <a:spcPts val="400"/>
              </a:spcBef>
              <a:defRPr sz="1050" b="1">
                <a:solidFill>
                  <a:srgbClr val="F8FAFC"/>
                </a:solidFill>
                <a:latin typeface="Segoe UI"/>
              </a:defRPr>
            </a:pPr>
            <a:r>
              <a:t>• Audio Format: </a:t>
            </a:r>
          </a:p>
          <a:p>
            <a:pPr>
              <a:defRPr sz="950">
                <a:solidFill>
                  <a:srgbClr val="94A3B8"/>
                </a:solidFill>
                <a:latin typeface="Segoe UI"/>
              </a:defRPr>
            </a:pPr>
            <a:r>
              <a:t>   16 kHz, 16-bit mono PCM stream</a:t>
            </a:r>
          </a:p>
          <a:p>
            <a:pPr>
              <a:spcBef>
                <a:spcPts val="400"/>
              </a:spcBef>
              <a:defRPr sz="1050" b="1">
                <a:solidFill>
                  <a:srgbClr val="F8FAFC"/>
                </a:solidFill>
                <a:latin typeface="Segoe UI"/>
              </a:defRPr>
            </a:pPr>
            <a:r>
              <a:t>• Offline Capability: </a:t>
            </a:r>
          </a:p>
          <a:p>
            <a:pPr>
              <a:defRPr sz="950">
                <a:solidFill>
                  <a:srgbClr val="94A3B8"/>
                </a:solidFill>
                <a:latin typeface="Segoe UI"/>
              </a:defRPr>
            </a:pPr>
            <a:r>
              <a:t>   Runs 100% offline without sending user voice recordings to external cloud servers.</a:t>
            </a:r>
          </a:p>
          <a:p>
            <a:pPr>
              <a:spcBef>
                <a:spcPts val="400"/>
              </a:spcBef>
              <a:defRPr sz="1050" b="1">
                <a:solidFill>
                  <a:srgbClr val="F8FAFC"/>
                </a:solidFill>
                <a:latin typeface="Segoe UI"/>
              </a:defRPr>
            </a:pPr>
            <a:r>
              <a:t>• Accuracy: </a:t>
            </a:r>
          </a:p>
          <a:p>
            <a:pPr>
              <a:defRPr sz="950">
                <a:solidFill>
                  <a:srgbClr val="94A3B8"/>
                </a:solidFill>
                <a:latin typeface="Segoe UI"/>
              </a:defRPr>
            </a:pPr>
            <a:r>
              <a:t>   High word recognition rate with Kaldi acoustic modeling.</a:t>
            </a:r>
          </a:p>
        </p:txBody>
      </p:sp>
      <p:sp>
        <p:nvSpPr>
          <p:cNvPr id="10" name="Rounded Rectangle 9"/>
          <p:cNvSpPr/>
          <p:nvPr/>
        </p:nvSpPr>
        <p:spPr>
          <a:xfrm>
            <a:off x="7955280" y="1828800"/>
            <a:ext cx="3474720" cy="429768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00FF87"/>
                </a:solidFill>
                <a:latin typeface="Segoe UI"/>
              </a:defRPr>
            </a:pPr>
            <a:r>
              <a:t>Dual-Path Synthesis (TTS)</a:t>
            </a:r>
          </a:p>
          <a:p>
            <a:pPr>
              <a:spcBef>
                <a:spcPts val="400"/>
              </a:spcBef>
              <a:defRPr sz="1050" b="1">
                <a:solidFill>
                  <a:srgbClr val="F8FAFC"/>
                </a:solidFill>
                <a:latin typeface="Segoe UI"/>
              </a:defRPr>
            </a:pPr>
            <a:r>
              <a:t>• Primary Engine: </a:t>
            </a:r>
          </a:p>
          <a:p>
            <a:pPr>
              <a:defRPr sz="950">
                <a:solidFill>
                  <a:srgbClr val="94A3B8"/>
                </a:solidFill>
                <a:latin typeface="Segoe UI"/>
              </a:defRPr>
            </a:pPr>
            <a:r>
              <a:t>   Piper Neural TTS (fast ONNX-based natural speech synthesis).</a:t>
            </a:r>
          </a:p>
          <a:p>
            <a:pPr>
              <a:spcBef>
                <a:spcPts val="400"/>
              </a:spcBef>
              <a:defRPr sz="1050" b="1">
                <a:solidFill>
                  <a:srgbClr val="F8FAFC"/>
                </a:solidFill>
                <a:latin typeface="Segoe UI"/>
              </a:defRPr>
            </a:pPr>
            <a:r>
              <a:t>• Zero-Dependency Fallback: </a:t>
            </a:r>
          </a:p>
          <a:p>
            <a:pPr>
              <a:defRPr sz="950">
                <a:solidFill>
                  <a:srgbClr val="94A3B8"/>
                </a:solidFill>
                <a:latin typeface="Segoe UI"/>
              </a:defRPr>
            </a:pPr>
            <a:r>
              <a:t>   Direct Windows SAPI automation invoked via background PowerShell COM interface.</a:t>
            </a:r>
          </a:p>
          <a:p>
            <a:pPr>
              <a:spcBef>
                <a:spcPts val="400"/>
              </a:spcBef>
              <a:defRPr sz="1050" b="1">
                <a:solidFill>
                  <a:srgbClr val="F8FAFC"/>
                </a:solidFill>
                <a:latin typeface="Segoe UI"/>
              </a:defRPr>
            </a:pPr>
            <a:r>
              <a:t>• Benefit: </a:t>
            </a:r>
          </a:p>
          <a:p>
            <a:pPr>
              <a:defRPr sz="950">
                <a:solidFill>
                  <a:srgbClr val="94A3B8"/>
                </a:solidFill>
                <a:latin typeface="Segoe UI"/>
              </a:defRPr>
            </a:pPr>
            <a:r>
              <a:t>   Guarantees immediate vocal response even on machines without Piper installed.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REASONING &amp; LLM INTEGRATION</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Reasoning Layer: Asynchronous LLM Client &amp; Context Injection</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09 / 16</a:t>
            </a:r>
          </a:p>
        </p:txBody>
      </p:sp>
      <p:sp>
        <p:nvSpPr>
          <p:cNvPr id="8" name="Rounded Rectangle 7"/>
          <p:cNvSpPr/>
          <p:nvPr/>
        </p:nvSpPr>
        <p:spPr>
          <a:xfrm>
            <a:off x="731520" y="1828800"/>
            <a:ext cx="521208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0F2FE"/>
                </a:solidFill>
                <a:latin typeface="Segoe UI"/>
              </a:defRPr>
            </a:pPr>
            <a:r>
              <a:t>HTTP/2 Asynchronous LLM Integration</a:t>
            </a:r>
          </a:p>
          <a:p>
            <a:pPr>
              <a:spcBef>
                <a:spcPts val="600"/>
              </a:spcBef>
              <a:defRPr sz="1100" b="1">
                <a:solidFill>
                  <a:srgbClr val="F8FAFC"/>
                </a:solidFill>
                <a:latin typeface="Segoe UI"/>
              </a:defRPr>
            </a:pPr>
            <a:r>
              <a:t>✔ Java 21 HttpClient</a:t>
            </a:r>
          </a:p>
          <a:p>
            <a:pPr>
              <a:defRPr sz="950">
                <a:solidFill>
                  <a:srgbClr val="94A3B8"/>
                </a:solidFill>
                <a:latin typeface="Segoe UI"/>
              </a:defRPr>
            </a:pPr>
            <a:r>
              <a:t>   Utilizes modern non-blocking HTTP/2 multiplexing and connection pooling for minimal latency.</a:t>
            </a:r>
          </a:p>
          <a:p>
            <a:pPr>
              <a:spcBef>
                <a:spcPts val="600"/>
              </a:spcBef>
              <a:defRPr sz="1100" b="1">
                <a:solidFill>
                  <a:srgbClr val="F8FAFC"/>
                </a:solidFill>
                <a:latin typeface="Segoe UI"/>
              </a:defRPr>
            </a:pPr>
            <a:r>
              <a:t>✔ Multi-Backend Flexibility</a:t>
            </a:r>
          </a:p>
          <a:p>
            <a:pPr>
              <a:defRPr sz="950">
                <a:solidFill>
                  <a:srgbClr val="94A3B8"/>
                </a:solidFill>
                <a:latin typeface="Segoe UI"/>
              </a:defRPr>
            </a:pPr>
            <a:r>
              <a:t>   Seamlessly connects to OpenAI GPT-4o-mini, Local Ollama (llama3.2), Groq, or OpenRouter via OpenAI-compatible endpoints.</a:t>
            </a:r>
          </a:p>
          <a:p>
            <a:pPr>
              <a:spcBef>
                <a:spcPts val="600"/>
              </a:spcBef>
              <a:defRPr sz="1100" b="1">
                <a:solidFill>
                  <a:srgbClr val="F8FAFC"/>
                </a:solidFill>
                <a:latin typeface="Segoe UI"/>
              </a:defRPr>
            </a:pPr>
            <a:r>
              <a:t>✔ Zero-Crash Local Heuristic Fallback</a:t>
            </a:r>
          </a:p>
          <a:p>
            <a:pPr>
              <a:defRPr sz="950">
                <a:solidFill>
                  <a:srgbClr val="94A3B8"/>
                </a:solidFill>
                <a:latin typeface="Segoe UI"/>
              </a:defRPr>
            </a:pPr>
            <a:r>
              <a:t>   If network drops or API keys expire, N.E.X.U.S automatically engages its intelligent heuristic intent parser. Evaluators never see a blank screen or crash.</a:t>
            </a:r>
          </a:p>
          <a:p>
            <a:pPr>
              <a:spcBef>
                <a:spcPts val="600"/>
              </a:spcBef>
              <a:defRPr sz="1100" b="1">
                <a:solidFill>
                  <a:srgbClr val="F8FAFC"/>
                </a:solidFill>
                <a:latin typeface="Segoe UI"/>
              </a:defRPr>
            </a:pPr>
            <a:r>
              <a:t>✔ Multimodal Context Metadata</a:t>
            </a:r>
          </a:p>
          <a:p>
            <a:pPr>
              <a:defRPr sz="950">
                <a:solidFill>
                  <a:srgbClr val="94A3B8"/>
                </a:solidFill>
                <a:latin typeface="Segoe UI"/>
              </a:defRPr>
            </a:pPr>
            <a:r>
              <a:t>   Injects current user mood (e.g. STRESSED) and sentiment into system prompt instructions.</a:t>
            </a:r>
          </a:p>
        </p:txBody>
      </p:sp>
      <p:sp>
        <p:nvSpPr>
          <p:cNvPr id="9" name="Rounded Rectangle 8"/>
          <p:cNvSpPr/>
          <p:nvPr/>
        </p:nvSpPr>
        <p:spPr>
          <a:xfrm>
            <a:off x="6217920" y="1828800"/>
            <a:ext cx="5212080" cy="4297680"/>
          </a:xfrm>
          <a:prstGeom prst="roundRect">
            <a:avLst/>
          </a:prstGeom>
          <a:solidFill>
            <a:srgbClr val="0E172A"/>
          </a:solidFill>
          <a:ln w="15240">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C88CFF"/>
                </a:solidFill>
                <a:latin typeface="Segoe UI"/>
              </a:defRPr>
            </a:pPr>
            <a:r>
              <a:t>Prompt Context Assembly Architecture</a:t>
            </a:r>
          </a:p>
          <a:p>
            <a:pPr>
              <a:spcBef>
                <a:spcPts val="400"/>
              </a:spcBef>
              <a:defRPr sz="1100" b="1">
                <a:solidFill>
                  <a:srgbClr val="00F2FE"/>
                </a:solidFill>
                <a:latin typeface="Segoe UI"/>
              </a:defRPr>
            </a:pPr>
            <a:r>
              <a:t>✦ 1. System Directives &amp; Persona</a:t>
            </a:r>
          </a:p>
          <a:p>
            <a:pPr>
              <a:defRPr sz="950">
                <a:solidFill>
                  <a:srgbClr val="94A3B8"/>
                </a:solidFill>
                <a:latin typeface="Segoe UI"/>
              </a:defRPr>
            </a:pPr>
            <a:r>
              <a:t>   Core identity, instructions, and sci-fi tactical demeanor.</a:t>
            </a:r>
          </a:p>
          <a:p>
            <a:pPr>
              <a:spcBef>
                <a:spcPts val="400"/>
              </a:spcBef>
              <a:defRPr sz="1100" b="1">
                <a:solidFill>
                  <a:srgbClr val="00FF87"/>
                </a:solidFill>
                <a:latin typeface="Segoe UI"/>
              </a:defRPr>
            </a:pPr>
            <a:r>
              <a:t>✦ 2. Dynamic User Profile (Synthesized)</a:t>
            </a:r>
          </a:p>
          <a:p>
            <a:pPr>
              <a:defRPr sz="950">
                <a:solidFill>
                  <a:srgbClr val="94A3B8"/>
                </a:solidFill>
                <a:latin typeface="Segoe UI"/>
              </a:defRPr>
            </a:pPr>
            <a:r>
              <a:t>   Injected 2-sentence user behavioral cadence and tone descriptor.</a:t>
            </a:r>
          </a:p>
          <a:p>
            <a:pPr>
              <a:spcBef>
                <a:spcPts val="400"/>
              </a:spcBef>
              <a:defRPr sz="1100" b="1">
                <a:solidFill>
                  <a:srgbClr val="F59E0B"/>
                </a:solidFill>
                <a:latin typeface="Segoe UI"/>
              </a:defRPr>
            </a:pPr>
            <a:r>
              <a:t>✦ 3. Environmental Mood &amp; Gesture State</a:t>
            </a:r>
          </a:p>
          <a:p>
            <a:pPr>
              <a:defRPr sz="950">
                <a:solidFill>
                  <a:srgbClr val="94A3B8"/>
                </a:solidFill>
                <a:latin typeface="Segoe UI"/>
              </a:defRPr>
            </a:pPr>
            <a:r>
              <a:t>   'User is currently STRESSED. Tailor answer to be calm, concise, and direct.'</a:t>
            </a:r>
          </a:p>
          <a:p>
            <a:pPr>
              <a:spcBef>
                <a:spcPts val="400"/>
              </a:spcBef>
              <a:defRPr sz="1100" b="1">
                <a:solidFill>
                  <a:srgbClr val="F8FAFC"/>
                </a:solidFill>
                <a:latin typeface="Segoe UI"/>
              </a:defRPr>
            </a:pPr>
            <a:r>
              <a:t>✦ 4. Bounded Conversation History (Sliding)</a:t>
            </a:r>
          </a:p>
          <a:p>
            <a:pPr>
              <a:defRPr sz="950">
                <a:solidFill>
                  <a:srgbClr val="94A3B8"/>
                </a:solidFill>
                <a:latin typeface="Segoe UI"/>
              </a:defRPr>
            </a:pPr>
            <a:r>
              <a:t>   Strictly limited to last 6 turns (maintaining steady token count).</a:t>
            </a:r>
          </a:p>
          <a:p>
            <a:pPr>
              <a:spcBef>
                <a:spcPts val="400"/>
              </a:spcBef>
              <a:defRPr sz="1100" b="1">
                <a:solidFill>
                  <a:srgbClr val="00F2FE"/>
                </a:solidFill>
                <a:latin typeface="Segoe UI"/>
              </a:defRPr>
            </a:pPr>
            <a:r>
              <a:t>✦ 5. Active User Input Query</a:t>
            </a:r>
          </a:p>
          <a:p>
            <a:pPr>
              <a:defRPr sz="950">
                <a:solidFill>
                  <a:srgbClr val="94A3B8"/>
                </a:solidFill>
                <a:latin typeface="Segoe UI"/>
              </a:defRPr>
            </a:pPr>
            <a:r>
              <a:t>   Latest user voice transcript or typed 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PERSONALIZATION ENGINE</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Adaptive Personalization: Closed-Loop Behavioral Learning</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10 / 16</a:t>
            </a:r>
          </a:p>
        </p:txBody>
      </p:sp>
      <p:sp>
        <p:nvSpPr>
          <p:cNvPr id="8" name="Rounded Rectangle 7"/>
          <p:cNvSpPr/>
          <p:nvPr/>
        </p:nvSpPr>
        <p:spPr>
          <a:xfrm>
            <a:off x="731520" y="1828800"/>
            <a:ext cx="256032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00F2FE"/>
                </a:solidFill>
                <a:latin typeface="Segoe UI"/>
              </a:defRPr>
            </a:pPr>
            <a:r>
              <a:t>STEP 1: Log Turn</a:t>
            </a:r>
          </a:p>
          <a:p>
            <a:pPr>
              <a:spcAft>
                <a:spcPts val="1200"/>
              </a:spcAft>
              <a:defRPr sz="1400" b="1">
                <a:solidFill>
                  <a:srgbClr val="F8FAFC"/>
                </a:solidFill>
                <a:latin typeface="Segoe UI"/>
              </a:defRPr>
            </a:pPr>
            <a:r>
              <a:t>Interaction Capture</a:t>
            </a:r>
          </a:p>
          <a:p>
            <a:pPr>
              <a:defRPr sz="1050">
                <a:solidFill>
                  <a:srgbClr val="94A3B8"/>
                </a:solidFill>
                <a:latin typeface="Segoe UI"/>
              </a:defRPr>
            </a:pPr>
            <a:r>
              <a:t>Captures user text, detected emotion, gesture, sentiment valence (-1.0 to +1.0), and latency into SQLite database.</a:t>
            </a:r>
          </a:p>
        </p:txBody>
      </p:sp>
      <p:sp>
        <p:nvSpPr>
          <p:cNvPr id="9" name="Rounded Rectangle 8"/>
          <p:cNvSpPr/>
          <p:nvPr/>
        </p:nvSpPr>
        <p:spPr>
          <a:xfrm>
            <a:off x="3429000" y="1828800"/>
            <a:ext cx="2560320" cy="4297680"/>
          </a:xfrm>
          <a:prstGeom prst="roundRect">
            <a:avLst/>
          </a:prstGeom>
          <a:solidFill>
            <a:srgbClr val="0E17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F59E0B"/>
                </a:solidFill>
                <a:latin typeface="Segoe UI"/>
              </a:defRPr>
            </a:pPr>
            <a:r>
              <a:t>STEP 2: Batch Analysis</a:t>
            </a:r>
          </a:p>
          <a:p>
            <a:pPr>
              <a:spcAft>
                <a:spcPts val="1200"/>
              </a:spcAft>
              <a:defRPr sz="1400" b="1">
                <a:solidFill>
                  <a:srgbClr val="F8FAFC"/>
                </a:solidFill>
                <a:latin typeface="Segoe UI"/>
              </a:defRPr>
            </a:pPr>
            <a:r>
              <a:t>Periodic Trigger (N=10)</a:t>
            </a:r>
          </a:p>
          <a:p>
            <a:pPr>
              <a:defRPr sz="1050">
                <a:solidFill>
                  <a:srgbClr val="94A3B8"/>
                </a:solidFill>
                <a:latin typeface="Segoe UI"/>
              </a:defRPr>
            </a:pPr>
            <a:r>
              <a:t>Every 10 turns, pulls recent interaction logs and prompts LLM to synthesize a 2-sentence user behavioral profile.</a:t>
            </a:r>
          </a:p>
        </p:txBody>
      </p:sp>
      <p:sp>
        <p:nvSpPr>
          <p:cNvPr id="10" name="Rounded Rectangle 9"/>
          <p:cNvSpPr/>
          <p:nvPr/>
        </p:nvSpPr>
        <p:spPr>
          <a:xfrm>
            <a:off x="6126480" y="1828800"/>
            <a:ext cx="2560320" cy="4297680"/>
          </a:xfrm>
          <a:prstGeom prst="roundRect">
            <a:avLst/>
          </a:prstGeom>
          <a:solidFill>
            <a:srgbClr val="0E172A"/>
          </a:solidFill>
          <a:ln w="15240">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9B51E0"/>
                </a:solidFill>
                <a:latin typeface="Segoe UI"/>
              </a:defRPr>
            </a:pPr>
            <a:r>
              <a:t>STEP 3: Profile Store</a:t>
            </a:r>
          </a:p>
          <a:p>
            <a:pPr>
              <a:spcAft>
                <a:spcPts val="1200"/>
              </a:spcAft>
              <a:defRPr sz="1400" b="1">
                <a:solidFill>
                  <a:srgbClr val="F8FAFC"/>
                </a:solidFill>
                <a:latin typeface="Segoe UI"/>
              </a:defRPr>
            </a:pPr>
            <a:r>
              <a:t>Evolving User Model</a:t>
            </a:r>
          </a:p>
          <a:p>
            <a:pPr>
              <a:defRPr sz="1050">
                <a:solidFill>
                  <a:srgbClr val="94A3B8"/>
                </a:solidFill>
                <a:latin typeface="Segoe UI"/>
              </a:defRPr>
            </a:pPr>
            <a:r>
              <a:t>Stores updated profile (summary, preferred tone, topic clusters) in SQLite user_profile table.</a:t>
            </a:r>
          </a:p>
        </p:txBody>
      </p:sp>
      <p:sp>
        <p:nvSpPr>
          <p:cNvPr id="11" name="Rounded Rectangle 10"/>
          <p:cNvSpPr/>
          <p:nvPr/>
        </p:nvSpPr>
        <p:spPr>
          <a:xfrm>
            <a:off x="8823960" y="1828800"/>
            <a:ext cx="2560320" cy="429768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00FF87"/>
                </a:solidFill>
                <a:latin typeface="Segoe UI"/>
              </a:defRPr>
            </a:pPr>
            <a:r>
              <a:t>STEP 4: Context Inject</a:t>
            </a:r>
          </a:p>
          <a:p>
            <a:pPr>
              <a:spcAft>
                <a:spcPts val="1200"/>
              </a:spcAft>
              <a:defRPr sz="1400" b="1">
                <a:solidFill>
                  <a:srgbClr val="F8FAFC"/>
                </a:solidFill>
                <a:latin typeface="Segoe UI"/>
              </a:defRPr>
            </a:pPr>
            <a:r>
              <a:t>Adaptive Resonance</a:t>
            </a:r>
          </a:p>
          <a:p>
            <a:pPr>
              <a:defRPr sz="1050">
                <a:solidFill>
                  <a:srgbClr val="94A3B8"/>
                </a:solidFill>
                <a:latin typeface="Segoe UI"/>
              </a:defRPr>
            </a:pPr>
            <a:r>
              <a:t>Injects profile into subsequent prompts. Assistant automatically adapts tone, brevity, and empathy to match user style.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ALGORITHMIC DESIGN</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Token Efficiency &amp; Mathematical Formulation</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11 / 16</a:t>
            </a:r>
          </a:p>
        </p:txBody>
      </p:sp>
      <p:sp>
        <p:nvSpPr>
          <p:cNvPr id="8" name="Rounded Rectangle 7"/>
          <p:cNvSpPr/>
          <p:nvPr/>
        </p:nvSpPr>
        <p:spPr>
          <a:xfrm>
            <a:off x="731520" y="1828800"/>
            <a:ext cx="521208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0F2FE"/>
                </a:solidFill>
                <a:latin typeface="Segoe UI"/>
              </a:defRPr>
            </a:pPr>
            <a:r>
              <a:t>Mathematical Metrics &amp; Tracking</a:t>
            </a:r>
          </a:p>
          <a:p>
            <a:pPr>
              <a:spcBef>
                <a:spcPts val="600"/>
              </a:spcBef>
              <a:defRPr sz="1100" b="1">
                <a:solidFill>
                  <a:srgbClr val="F8FAFC"/>
                </a:solidFill>
                <a:latin typeface="Segoe UI"/>
              </a:defRPr>
            </a:pPr>
            <a:r>
              <a:t>◈ Lexical Sentiment Valence S(t)</a:t>
            </a:r>
          </a:p>
          <a:p>
            <a:pPr>
              <a:defRPr sz="950">
                <a:solidFill>
                  <a:srgbClr val="94A3B8"/>
                </a:solidFill>
                <a:latin typeface="Segoe UI"/>
              </a:defRPr>
            </a:pPr>
            <a:r>
              <a:t>   Computed per interaction turn t within range [-1.0, 1.0]:</a:t>
            </a:r>
            <a:br/>
            <a:r>
              <a:t>S(t) = clamp( Σ ω+(w) - Σ ω-(w), -1.0, 1.0 ) where weights reflect emotional salience.</a:t>
            </a:r>
          </a:p>
          <a:p>
            <a:pPr>
              <a:spcBef>
                <a:spcPts val="600"/>
              </a:spcBef>
              <a:defRPr sz="1100" b="1">
                <a:solidFill>
                  <a:srgbClr val="F8FAFC"/>
                </a:solidFill>
                <a:latin typeface="Segoe UI"/>
              </a:defRPr>
            </a:pPr>
            <a:r>
              <a:t>◈ Moving Average Sentiment Trend</a:t>
            </a:r>
          </a:p>
          <a:p>
            <a:pPr>
              <a:defRPr sz="950">
                <a:solidFill>
                  <a:srgbClr val="94A3B8"/>
                </a:solidFill>
                <a:latin typeface="Segoe UI"/>
              </a:defRPr>
            </a:pPr>
            <a:r>
              <a:t>   Long-term trend evaluated over K turns in SQLite:</a:t>
            </a:r>
            <a:br/>
            <a:r>
              <a:t>S_avg = (1 / K) * Σ S(t-i) for i = 0 to K-1.</a:t>
            </a:r>
          </a:p>
          <a:p>
            <a:pPr>
              <a:spcBef>
                <a:spcPts val="600"/>
              </a:spcBef>
              <a:defRPr sz="1100" b="1">
                <a:solidFill>
                  <a:srgbClr val="F8FAFC"/>
                </a:solidFill>
                <a:latin typeface="Segoe UI"/>
              </a:defRPr>
            </a:pPr>
            <a:r>
              <a:t>◈ Frequency-Based Topic Scoring</a:t>
            </a:r>
          </a:p>
          <a:p>
            <a:pPr>
              <a:defRPr sz="950">
                <a:solidFill>
                  <a:srgbClr val="94A3B8"/>
                </a:solidFill>
                <a:latin typeface="Segoe UI"/>
              </a:defRPr>
            </a:pPr>
            <a:r>
              <a:t>   Tokenizes queries against domain taxonomic dictionaries:</a:t>
            </a:r>
            <a:br/>
            <a:r>
              <a:t>Score(C) = Σ 1(w ∈ Keywords(C)) for clusters C ∈ {Vision, Speech, AI, UI}.</a:t>
            </a:r>
          </a:p>
        </p:txBody>
      </p:sp>
      <p:sp>
        <p:nvSpPr>
          <p:cNvPr id="9" name="Rounded Rectangle 8"/>
          <p:cNvSpPr/>
          <p:nvPr/>
        </p:nvSpPr>
        <p:spPr>
          <a:xfrm>
            <a:off x="6217920" y="1828800"/>
            <a:ext cx="5212080" cy="429768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600" b="1">
                <a:solidFill>
                  <a:srgbClr val="00FF87"/>
                </a:solidFill>
                <a:latin typeface="Segoe UI"/>
              </a:defRPr>
            </a:pPr>
            <a:r>
              <a:t>Token Economics: N.E.X.U.S vs Naive History</a:t>
            </a:r>
          </a:p>
          <a:p>
            <a:pPr>
              <a:spcBef>
                <a:spcPts val="600"/>
              </a:spcBef>
              <a:defRPr sz="1150" b="1">
                <a:solidFill>
                  <a:srgbClr val="F59E0B"/>
                </a:solidFill>
                <a:latin typeface="Segoe UI"/>
              </a:defRPr>
            </a:pPr>
            <a:r>
              <a:t>✦ Naive Full-History Chatbots</a:t>
            </a:r>
          </a:p>
          <a:p>
            <a:pPr>
              <a:defRPr sz="1000">
                <a:solidFill>
                  <a:srgbClr val="94A3B8"/>
                </a:solidFill>
                <a:latin typeface="Segoe UI"/>
              </a:defRPr>
            </a:pPr>
            <a:r>
              <a:t>   Appends entire conversation history into every prompt. At Turn 50, prompt consumes &gt; 8,000 tokens ($$$ and high latency). Hits context limits rapidly.</a:t>
            </a:r>
          </a:p>
          <a:p>
            <a:pPr>
              <a:spcBef>
                <a:spcPts val="600"/>
              </a:spcBef>
              <a:defRPr sz="1150" b="1">
                <a:solidFill>
                  <a:srgbClr val="00FF87"/>
                </a:solidFill>
                <a:latin typeface="Segoe UI"/>
              </a:defRPr>
            </a:pPr>
            <a:r>
              <a:t>✦ N.E.X.U.S Bounded Architecture</a:t>
            </a:r>
          </a:p>
          <a:p>
            <a:pPr>
              <a:defRPr sz="1000">
                <a:solidFill>
                  <a:srgbClr val="94A3B8"/>
                </a:solidFill>
                <a:latin typeface="Segoe UI"/>
              </a:defRPr>
            </a:pPr>
            <a:r>
              <a:t>   Caps conversation history to 6 turns (~600 tokens) + Synthesized Profile (~120 tokens). Total context footprint is CONSTANT at ~720 tokens forever.</a:t>
            </a:r>
          </a:p>
          <a:p>
            <a:pPr>
              <a:spcBef>
                <a:spcPts val="600"/>
              </a:spcBef>
              <a:defRPr sz="1150" b="1">
                <a:solidFill>
                  <a:srgbClr val="00F2FE"/>
                </a:solidFill>
                <a:latin typeface="Segoe UI"/>
              </a:defRPr>
            </a:pPr>
            <a:r>
              <a:t>✦ Efficiency Result</a:t>
            </a:r>
          </a:p>
          <a:p>
            <a:pPr>
              <a:defRPr sz="1000">
                <a:solidFill>
                  <a:srgbClr val="94A3B8"/>
                </a:solidFill>
                <a:latin typeface="Segoe UI"/>
              </a:defRPr>
            </a:pPr>
            <a:r>
              <a:t>   Over 90% reduction in token consumption over extended sessions, maintaining instant response times with persistent behavioral memory.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USER INTERFACE ARCHITECTURE</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Tactical Interface: JavaFX 21 Cyberpunk HUD</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12 / 16</a:t>
            </a:r>
          </a:p>
        </p:txBody>
      </p:sp>
      <p:sp>
        <p:nvSpPr>
          <p:cNvPr id="8" name="Rounded Rectangle 7"/>
          <p:cNvSpPr/>
          <p:nvPr/>
        </p:nvSpPr>
        <p:spPr>
          <a:xfrm>
            <a:off x="731520" y="1828800"/>
            <a:ext cx="347472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00F2FE"/>
                </a:solidFill>
                <a:latin typeface="Segoe UI"/>
              </a:defRPr>
            </a:pPr>
            <a:r>
              <a:t>Camera Viewport &amp; Reticles</a:t>
            </a:r>
          </a:p>
          <a:p>
            <a:pPr>
              <a:spcBef>
                <a:spcPts val="600"/>
              </a:spcBef>
              <a:defRPr sz="1100" b="1">
                <a:solidFill>
                  <a:srgbClr val="F8FAFC"/>
                </a:solidFill>
                <a:latin typeface="Segoe UI"/>
              </a:defRPr>
            </a:pPr>
            <a:r>
              <a:t>◈ Live 30 FPS Canvas Rendering</a:t>
            </a:r>
          </a:p>
          <a:p>
            <a:pPr>
              <a:defRPr sz="950">
                <a:solidFill>
                  <a:srgbClr val="94A3B8"/>
                </a:solidFill>
                <a:latin typeface="Segoe UI"/>
              </a:defRPr>
            </a:pPr>
            <a:r>
              <a:t>   Draws live video stream with zero image flickering.</a:t>
            </a:r>
          </a:p>
          <a:p>
            <a:pPr>
              <a:spcBef>
                <a:spcPts val="600"/>
              </a:spcBef>
              <a:defRPr sz="1100" b="1">
                <a:solidFill>
                  <a:srgbClr val="F8FAFC"/>
                </a:solidFill>
                <a:latin typeface="Segoe UI"/>
              </a:defRPr>
            </a:pPr>
            <a:r>
              <a:t>◈ Targeting Brackets Overlay</a:t>
            </a:r>
          </a:p>
          <a:p>
            <a:pPr>
              <a:defRPr sz="950">
                <a:solidFill>
                  <a:srgbClr val="94A3B8"/>
                </a:solidFill>
                <a:latin typeface="Segoe UI"/>
              </a:defRPr>
            </a:pPr>
            <a:r>
              <a:t>   Cybernetic cyan targeting reticles around user face.</a:t>
            </a:r>
          </a:p>
          <a:p>
            <a:pPr>
              <a:spcBef>
                <a:spcPts val="600"/>
              </a:spcBef>
              <a:defRPr sz="1100" b="1">
                <a:solidFill>
                  <a:srgbClr val="F8FAFC"/>
                </a:solidFill>
                <a:latin typeface="Segoe UI"/>
              </a:defRPr>
            </a:pPr>
            <a:r>
              <a:t>◈ Real-Time Emotion Badge</a:t>
            </a:r>
          </a:p>
          <a:p>
            <a:pPr>
              <a:defRPr sz="950">
                <a:solidFill>
                  <a:srgbClr val="94A3B8"/>
                </a:solidFill>
                <a:latin typeface="Segoe UI"/>
              </a:defRPr>
            </a:pPr>
            <a:r>
              <a:t>   Displays active emotion (e.g. FOCUSED, HAPPY) with confidence percentage.</a:t>
            </a:r>
          </a:p>
        </p:txBody>
      </p:sp>
      <p:sp>
        <p:nvSpPr>
          <p:cNvPr id="9" name="Rounded Rectangle 8"/>
          <p:cNvSpPr/>
          <p:nvPr/>
        </p:nvSpPr>
        <p:spPr>
          <a:xfrm>
            <a:off x="4343400" y="1828800"/>
            <a:ext cx="3474720" cy="4297680"/>
          </a:xfrm>
          <a:prstGeom prst="roundRect">
            <a:avLst/>
          </a:prstGeom>
          <a:solidFill>
            <a:srgbClr val="0E172A"/>
          </a:solidFill>
          <a:ln w="15240">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9B51E0"/>
                </a:solidFill>
                <a:latin typeface="Segoe UI"/>
              </a:defRPr>
            </a:pPr>
            <a:r>
              <a:t>Interactive Visualizer &amp; Chat</a:t>
            </a:r>
          </a:p>
          <a:p>
            <a:pPr>
              <a:spcBef>
                <a:spcPts val="600"/>
              </a:spcBef>
              <a:defRPr sz="1100" b="1">
                <a:solidFill>
                  <a:srgbClr val="F8FAFC"/>
                </a:solidFill>
                <a:latin typeface="Segoe UI"/>
              </a:defRPr>
            </a:pPr>
            <a:r>
              <a:t>◈ Real-Time Audio Visualizer</a:t>
            </a:r>
          </a:p>
          <a:p>
            <a:pPr>
              <a:defRPr sz="950">
                <a:solidFill>
                  <a:srgbClr val="94A3B8"/>
                </a:solidFill>
                <a:latin typeface="Segoe UI"/>
              </a:defRPr>
            </a:pPr>
            <a:r>
              <a:t>   Dynamic neon green &amp; cyan frequency bar animations reactive to speech synthesis.</a:t>
            </a:r>
          </a:p>
          <a:p>
            <a:pPr>
              <a:spcBef>
                <a:spcPts val="600"/>
              </a:spcBef>
              <a:defRPr sz="1100" b="1">
                <a:solidFill>
                  <a:srgbClr val="F8FAFC"/>
                </a:solidFill>
                <a:latin typeface="Segoe UI"/>
              </a:defRPr>
            </a:pPr>
            <a:r>
              <a:t>◈ Stream Chat Timeline</a:t>
            </a:r>
          </a:p>
          <a:p>
            <a:pPr>
              <a:defRPr sz="950">
                <a:solidFill>
                  <a:srgbClr val="94A3B8"/>
                </a:solidFill>
                <a:latin typeface="Segoe UI"/>
              </a:defRPr>
            </a:pPr>
            <a:r>
              <a:t>   Glassmorphic message cards with sentiment tags, mood badges, and round-trip latency.</a:t>
            </a:r>
          </a:p>
          <a:p>
            <a:pPr>
              <a:spcBef>
                <a:spcPts val="600"/>
              </a:spcBef>
              <a:defRPr sz="1100" b="1">
                <a:solidFill>
                  <a:srgbClr val="F8FAFC"/>
                </a:solidFill>
                <a:latin typeface="Segoe UI"/>
              </a:defRPr>
            </a:pPr>
            <a:r>
              <a:t>◈ Quick Testing Controls</a:t>
            </a:r>
          </a:p>
          <a:p>
            <a:pPr>
              <a:defRPr sz="950">
                <a:solidFill>
                  <a:srgbClr val="94A3B8"/>
                </a:solidFill>
                <a:latin typeface="Segoe UI"/>
              </a:defRPr>
            </a:pPr>
            <a:r>
              <a:t>   Manual emotion and gesture test buttons for live viva demonstration.</a:t>
            </a:r>
          </a:p>
        </p:txBody>
      </p:sp>
      <p:sp>
        <p:nvSpPr>
          <p:cNvPr id="10" name="Rounded Rectangle 9"/>
          <p:cNvSpPr/>
          <p:nvPr/>
        </p:nvSpPr>
        <p:spPr>
          <a:xfrm>
            <a:off x="7955280" y="1828800"/>
            <a:ext cx="3474720" cy="429768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00FF87"/>
                </a:solidFill>
                <a:latin typeface="Segoe UI"/>
              </a:defRPr>
            </a:pPr>
            <a:r>
              <a:t>Telemetry &amp; Personalization</a:t>
            </a:r>
          </a:p>
          <a:p>
            <a:pPr>
              <a:spcBef>
                <a:spcPts val="600"/>
              </a:spcBef>
              <a:defRPr sz="1100" b="1">
                <a:solidFill>
                  <a:srgbClr val="F8FAFC"/>
                </a:solidFill>
                <a:latin typeface="Segoe UI"/>
              </a:defRPr>
            </a:pPr>
            <a:r>
              <a:t>◈ Hardware Telemetry Gauges</a:t>
            </a:r>
          </a:p>
          <a:p>
            <a:pPr>
              <a:defRPr sz="950">
                <a:solidFill>
                  <a:srgbClr val="94A3B8"/>
                </a:solidFill>
                <a:latin typeface="Segoe UI"/>
              </a:defRPr>
            </a:pPr>
            <a:r>
              <a:t>   Live monitoring of JVM CPU usage, Heap Memory (MB), and Camera FPS.</a:t>
            </a:r>
          </a:p>
          <a:p>
            <a:pPr>
              <a:spcBef>
                <a:spcPts val="600"/>
              </a:spcBef>
              <a:defRPr sz="1100" b="1">
                <a:solidFill>
                  <a:srgbClr val="F8FAFC"/>
                </a:solidFill>
                <a:latin typeface="Segoe UI"/>
              </a:defRPr>
            </a:pPr>
            <a:r>
              <a:t>◈ Explainable Profile Inspector</a:t>
            </a:r>
          </a:p>
          <a:p>
            <a:pPr>
              <a:defRPr sz="950">
                <a:solidFill>
                  <a:srgbClr val="94A3B8"/>
                </a:solidFill>
                <a:latin typeface="Segoe UI"/>
              </a:defRPr>
            </a:pPr>
            <a:r>
              <a:t>   Displays synthesized user summary, preferred tone, and topic breakdown.</a:t>
            </a:r>
          </a:p>
          <a:p>
            <a:pPr>
              <a:spcBef>
                <a:spcPts val="600"/>
              </a:spcBef>
              <a:defRPr sz="1100" b="1">
                <a:solidFill>
                  <a:srgbClr val="F8FAFC"/>
                </a:solidFill>
                <a:latin typeface="Segoe UI"/>
              </a:defRPr>
            </a:pPr>
            <a:r>
              <a:t>◈ Manual Re-Synthesis Trigger</a:t>
            </a:r>
          </a:p>
          <a:p>
            <a:pPr>
              <a:defRPr sz="950">
                <a:solidFill>
                  <a:srgbClr val="94A3B8"/>
                </a:solidFill>
                <a:latin typeface="Segoe UI"/>
              </a:defRPr>
            </a:pPr>
            <a:r>
              <a:t>   Allows evaluator to trigger real-time profile learning with one click.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EXPERIMENTAL EVALUATION</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Performance Benchmarks &amp; Experimental Results</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13 / 16</a:t>
            </a:r>
          </a:p>
        </p:txBody>
      </p:sp>
      <p:sp>
        <p:nvSpPr>
          <p:cNvPr id="8" name="Rounded Rectangle 7"/>
          <p:cNvSpPr/>
          <p:nvPr/>
        </p:nvSpPr>
        <p:spPr>
          <a:xfrm>
            <a:off x="731520" y="1828800"/>
            <a:ext cx="2560320" cy="192024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HUD Refresh Rate</a:t>
            </a:r>
          </a:p>
          <a:p>
            <a:pPr>
              <a:spcBef>
                <a:spcPts val="400"/>
              </a:spcBef>
              <a:defRPr sz="3000" b="1">
                <a:solidFill>
                  <a:srgbClr val="00F2FE"/>
                </a:solidFill>
                <a:latin typeface="Segoe UI"/>
              </a:defRPr>
            </a:pPr>
            <a:r>
              <a:t>60 FPS</a:t>
            </a:r>
          </a:p>
          <a:p>
            <a:pPr>
              <a:spcBef>
                <a:spcPts val="400"/>
              </a:spcBef>
              <a:defRPr sz="950">
                <a:solidFill>
                  <a:srgbClr val="F8FAFC"/>
                </a:solidFill>
                <a:latin typeface="Segoe UI"/>
              </a:defRPr>
            </a:pPr>
            <a:r>
              <a:t>Zero UI lag maintained during simultaneous video &amp; audio</a:t>
            </a:r>
          </a:p>
        </p:txBody>
      </p:sp>
      <p:sp>
        <p:nvSpPr>
          <p:cNvPr id="9" name="Rounded Rectangle 8"/>
          <p:cNvSpPr/>
          <p:nvPr/>
        </p:nvSpPr>
        <p:spPr>
          <a:xfrm>
            <a:off x="3429000" y="1828800"/>
            <a:ext cx="2560320" cy="192024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ONNX Emotion Latency</a:t>
            </a:r>
          </a:p>
          <a:p>
            <a:pPr>
              <a:spcBef>
                <a:spcPts val="400"/>
              </a:spcBef>
              <a:defRPr sz="3000" b="1">
                <a:solidFill>
                  <a:srgbClr val="00FF87"/>
                </a:solidFill>
                <a:latin typeface="Segoe UI"/>
              </a:defRPr>
            </a:pPr>
            <a:r>
              <a:t>12 ms</a:t>
            </a:r>
          </a:p>
          <a:p>
            <a:pPr>
              <a:spcBef>
                <a:spcPts val="400"/>
              </a:spcBef>
              <a:defRPr sz="950">
                <a:solidFill>
                  <a:srgbClr val="F8FAFC"/>
                </a:solidFill>
                <a:latin typeface="Segoe UI"/>
              </a:defRPr>
            </a:pPr>
            <a:r>
              <a:t>Fast native C++ ONNX Runtime Java execution per frame</a:t>
            </a:r>
          </a:p>
        </p:txBody>
      </p:sp>
      <p:sp>
        <p:nvSpPr>
          <p:cNvPr id="10" name="Rounded Rectangle 9"/>
          <p:cNvSpPr/>
          <p:nvPr/>
        </p:nvSpPr>
        <p:spPr>
          <a:xfrm>
            <a:off x="6126480" y="1828800"/>
            <a:ext cx="2560320" cy="1920240"/>
          </a:xfrm>
          <a:prstGeom prst="roundRect">
            <a:avLst/>
          </a:prstGeom>
          <a:solidFill>
            <a:srgbClr val="0E172A"/>
          </a:solidFill>
          <a:ln w="15240">
            <a:solidFill>
              <a:srgbClr val="C88C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Wake Word Latency</a:t>
            </a:r>
          </a:p>
          <a:p>
            <a:pPr>
              <a:spcBef>
                <a:spcPts val="400"/>
              </a:spcBef>
              <a:defRPr sz="3000" b="1">
                <a:solidFill>
                  <a:srgbClr val="C88CFF"/>
                </a:solidFill>
                <a:latin typeface="Segoe UI"/>
              </a:defRPr>
            </a:pPr>
            <a:r>
              <a:t>&lt; 15 ms</a:t>
            </a:r>
          </a:p>
          <a:p>
            <a:pPr>
              <a:spcBef>
                <a:spcPts val="400"/>
              </a:spcBef>
              <a:defRPr sz="950">
                <a:solidFill>
                  <a:srgbClr val="F8FAFC"/>
                </a:solidFill>
                <a:latin typeface="Segoe UI"/>
              </a:defRPr>
            </a:pPr>
            <a:r>
              <a:t>Immediate trigger reaction using Porcupine acoustic engine</a:t>
            </a:r>
          </a:p>
        </p:txBody>
      </p:sp>
      <p:sp>
        <p:nvSpPr>
          <p:cNvPr id="11" name="Rounded Rectangle 10"/>
          <p:cNvSpPr/>
          <p:nvPr/>
        </p:nvSpPr>
        <p:spPr>
          <a:xfrm>
            <a:off x="8823960" y="1828800"/>
            <a:ext cx="2560320" cy="1920240"/>
          </a:xfrm>
          <a:prstGeom prst="roundRect">
            <a:avLst/>
          </a:prstGeom>
          <a:solidFill>
            <a:srgbClr val="0E17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4A3B8"/>
                </a:solidFill>
                <a:latin typeface="Segoe UI"/>
              </a:defRPr>
            </a:pPr>
            <a:r>
              <a:t>JVM Memory Footprint</a:t>
            </a:r>
          </a:p>
          <a:p>
            <a:pPr>
              <a:spcBef>
                <a:spcPts val="400"/>
              </a:spcBef>
              <a:defRPr sz="3000" b="1">
                <a:solidFill>
                  <a:srgbClr val="F59E0B"/>
                </a:solidFill>
                <a:latin typeface="Segoe UI"/>
              </a:defRPr>
            </a:pPr>
            <a:r>
              <a:t>~165 MB</a:t>
            </a:r>
          </a:p>
          <a:p>
            <a:pPr>
              <a:spcBef>
                <a:spcPts val="400"/>
              </a:spcBef>
              <a:defRPr sz="950">
                <a:solidFill>
                  <a:srgbClr val="F8FAFC"/>
                </a:solidFill>
                <a:latin typeface="Segoe UI"/>
              </a:defRPr>
            </a:pPr>
            <a:r>
              <a:t>Highly compact memory usage across full multimodal pipeline</a:t>
            </a:r>
          </a:p>
        </p:txBody>
      </p:sp>
      <p:sp>
        <p:nvSpPr>
          <p:cNvPr id="12" name="Rounded Rectangle 11"/>
          <p:cNvSpPr/>
          <p:nvPr/>
        </p:nvSpPr>
        <p:spPr>
          <a:xfrm>
            <a:off x="731520" y="3977639"/>
            <a:ext cx="10728655" cy="2148840"/>
          </a:xfrm>
          <a:prstGeom prst="roundRect">
            <a:avLst/>
          </a:prstGeom>
          <a:solidFill>
            <a:srgbClr val="0E172A"/>
          </a:solidFill>
          <a:ln w="15240">
            <a:solidFill>
              <a:srgbClr val="2838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00F2FE"/>
                </a:solidFill>
                <a:latin typeface="Segoe UI"/>
              </a:defRPr>
            </a:pPr>
            <a:r>
              <a:t>Key Experimental Findings &amp; Observations</a:t>
            </a:r>
          </a:p>
          <a:p>
            <a:pPr>
              <a:spcBef>
                <a:spcPts val="400"/>
              </a:spcBef>
              <a:defRPr sz="1050">
                <a:solidFill>
                  <a:srgbClr val="F8FAFC"/>
                </a:solidFill>
                <a:latin typeface="Segoe UI"/>
              </a:defRPr>
            </a:pPr>
            <a:r>
              <a:t>✔ Multithreading Advantage: Under sustained load, Java core maintained stable 60 FPS UI rendering, whereas a comparable Python single-process prototype experienced frame drops down to 18-22 FPS.</a:t>
            </a:r>
          </a:p>
          <a:p>
            <a:pPr>
              <a:spcBef>
                <a:spcPts val="400"/>
              </a:spcBef>
              <a:defRPr sz="1050">
                <a:solidFill>
                  <a:srgbClr val="F8FAFC"/>
                </a:solidFill>
                <a:latin typeface="Segoe UI"/>
              </a:defRPr>
            </a:pPr>
            <a:r>
              <a:t>✔ Token Savings: Closed-loop behavioral synthesis bounded prompt context size to ~720 tokens, saving 91% in token overhead compared to naive full-history append approaches over 50 interactions.</a:t>
            </a:r>
          </a:p>
          <a:p>
            <a:pPr>
              <a:spcBef>
                <a:spcPts val="400"/>
              </a:spcBef>
              <a:defRPr sz="1050">
                <a:solidFill>
                  <a:srgbClr val="F8FAFC"/>
                </a:solidFill>
                <a:latin typeface="Segoe UI"/>
              </a:defRPr>
            </a:pPr>
            <a:r>
              <a:t>✔ Zero-Crash Robustness: Fallback mechanisms successfully handled camera disconnection, network timeouts, and missing API keys with zero application unhandled exceptions.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TEAM CONTRIBUTIONS</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Team STI25CS: Role Allocation &amp; Module Ownership</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14 / 16</a:t>
            </a:r>
          </a:p>
        </p:txBody>
      </p:sp>
      <p:sp>
        <p:nvSpPr>
          <p:cNvPr id="8" name="Rounded Rectangle 7"/>
          <p:cNvSpPr/>
          <p:nvPr/>
        </p:nvSpPr>
        <p:spPr>
          <a:xfrm>
            <a:off x="731520" y="1828800"/>
            <a:ext cx="205740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Segoe UI"/>
              </a:defRPr>
            </a:pPr>
            <a:r>
              <a:t>Bhadra G. S.</a:t>
            </a:r>
          </a:p>
          <a:p>
            <a:pPr>
              <a:spcAft>
                <a:spcPts val="600"/>
              </a:spcAft>
              <a:defRPr sz="1000" b="1">
                <a:solidFill>
                  <a:srgbClr val="00F2FE"/>
                </a:solidFill>
                <a:latin typeface="Segoe UI"/>
              </a:defRPr>
            </a:pPr>
            <a:r>
              <a:t>STI25CS048</a:t>
            </a:r>
          </a:p>
          <a:p>
            <a:pPr>
              <a:spcAft>
                <a:spcPts val="800"/>
              </a:spcAft>
              <a:defRPr sz="1100" b="1">
                <a:solidFill>
                  <a:srgbClr val="DCEBFF"/>
                </a:solidFill>
                <a:latin typeface="Segoe UI"/>
              </a:defRPr>
            </a:pPr>
            <a:r>
              <a:t>Core Ideation &amp; Architecture</a:t>
            </a:r>
          </a:p>
          <a:p>
            <a:pPr>
              <a:defRPr sz="950">
                <a:solidFill>
                  <a:srgbClr val="94A3B8"/>
                </a:solidFill>
                <a:latin typeface="Segoe UI"/>
              </a:defRPr>
            </a:pPr>
            <a:r>
              <a:t>Formulated problem statement, designed unified Java orchestration architecture, authored SRS and system architecture specifications.</a:t>
            </a:r>
          </a:p>
        </p:txBody>
      </p:sp>
      <p:sp>
        <p:nvSpPr>
          <p:cNvPr id="9" name="Rounded Rectangle 8"/>
          <p:cNvSpPr/>
          <p:nvPr/>
        </p:nvSpPr>
        <p:spPr>
          <a:xfrm>
            <a:off x="2880360" y="1828800"/>
            <a:ext cx="2057400" cy="429768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Segoe UI"/>
              </a:defRPr>
            </a:pPr>
            <a:r>
              <a:t>Aleena Maria Roy</a:t>
            </a:r>
          </a:p>
          <a:p>
            <a:pPr>
              <a:spcAft>
                <a:spcPts val="600"/>
              </a:spcAft>
              <a:defRPr sz="1000" b="1">
                <a:solidFill>
                  <a:srgbClr val="00FF87"/>
                </a:solidFill>
                <a:latin typeface="Segoe UI"/>
              </a:defRPr>
            </a:pPr>
            <a:r>
              <a:t>STI25CS026</a:t>
            </a:r>
          </a:p>
          <a:p>
            <a:pPr>
              <a:spcAft>
                <a:spcPts val="800"/>
              </a:spcAft>
              <a:defRPr sz="1100" b="1">
                <a:solidFill>
                  <a:srgbClr val="DCEBFF"/>
                </a:solidFill>
                <a:latin typeface="Segoe UI"/>
              </a:defRPr>
            </a:pPr>
            <a:r>
              <a:t>Computer Vision Subsystem</a:t>
            </a:r>
          </a:p>
          <a:p>
            <a:pPr>
              <a:defRPr sz="950">
                <a:solidFill>
                  <a:srgbClr val="94A3B8"/>
                </a:solidFill>
                <a:latin typeface="Segoe UI"/>
              </a:defRPr>
            </a:pPr>
            <a:r>
              <a:t>Implemented OpenCV webcam capture, Haar cascade face detection, ONNX FER+ emotion classification, and hand gesture recognition.</a:t>
            </a:r>
          </a:p>
        </p:txBody>
      </p:sp>
      <p:sp>
        <p:nvSpPr>
          <p:cNvPr id="10" name="Rounded Rectangle 9"/>
          <p:cNvSpPr/>
          <p:nvPr/>
        </p:nvSpPr>
        <p:spPr>
          <a:xfrm>
            <a:off x="5029200" y="1828800"/>
            <a:ext cx="2057400" cy="4297680"/>
          </a:xfrm>
          <a:prstGeom prst="roundRect">
            <a:avLst/>
          </a:prstGeom>
          <a:solidFill>
            <a:srgbClr val="0E172A"/>
          </a:solidFill>
          <a:ln w="15240">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Segoe UI"/>
              </a:defRPr>
            </a:pPr>
            <a:r>
              <a:t>Abhishek A.</a:t>
            </a:r>
          </a:p>
          <a:p>
            <a:pPr>
              <a:spcAft>
                <a:spcPts val="600"/>
              </a:spcAft>
              <a:defRPr sz="1000" b="1">
                <a:solidFill>
                  <a:srgbClr val="9B51E0"/>
                </a:solidFill>
                <a:latin typeface="Segoe UI"/>
              </a:defRPr>
            </a:pPr>
            <a:r>
              <a:t>STI25CS009</a:t>
            </a:r>
          </a:p>
          <a:p>
            <a:pPr>
              <a:spcAft>
                <a:spcPts val="800"/>
              </a:spcAft>
              <a:defRPr sz="1100" b="1">
                <a:solidFill>
                  <a:srgbClr val="DCEBFF"/>
                </a:solidFill>
                <a:latin typeface="Segoe UI"/>
              </a:defRPr>
            </a:pPr>
            <a:r>
              <a:t>Speech I/O &amp; Dual Synthesis</a:t>
            </a:r>
          </a:p>
          <a:p>
            <a:pPr>
              <a:defRPr sz="950">
                <a:solidFill>
                  <a:srgbClr val="94A3B8"/>
                </a:solidFill>
                <a:latin typeface="Segoe UI"/>
              </a:defRPr>
            </a:pPr>
            <a:r>
              <a:t>Integrated Porcupine wake word engine, Vosk offline acoustic STT, Piper neural TTS subprocess, and Windows SAPI fallback.</a:t>
            </a:r>
          </a:p>
        </p:txBody>
      </p:sp>
      <p:sp>
        <p:nvSpPr>
          <p:cNvPr id="11" name="Rounded Rectangle 10"/>
          <p:cNvSpPr/>
          <p:nvPr/>
        </p:nvSpPr>
        <p:spPr>
          <a:xfrm>
            <a:off x="7178040" y="1828800"/>
            <a:ext cx="2057400" cy="4297680"/>
          </a:xfrm>
          <a:prstGeom prst="roundRect">
            <a:avLst/>
          </a:prstGeom>
          <a:solidFill>
            <a:srgbClr val="0E17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Segoe UI"/>
              </a:defRPr>
            </a:pPr>
            <a:r>
              <a:t>Dia M. Joby</a:t>
            </a:r>
          </a:p>
          <a:p>
            <a:pPr>
              <a:spcAft>
                <a:spcPts val="600"/>
              </a:spcAft>
              <a:defRPr sz="1000" b="1">
                <a:solidFill>
                  <a:srgbClr val="F59E0B"/>
                </a:solidFill>
                <a:latin typeface="Segoe UI"/>
              </a:defRPr>
            </a:pPr>
            <a:r>
              <a:t>STI25CS052</a:t>
            </a:r>
          </a:p>
          <a:p>
            <a:pPr>
              <a:spcAft>
                <a:spcPts val="800"/>
              </a:spcAft>
              <a:defRPr sz="1100" b="1">
                <a:solidFill>
                  <a:srgbClr val="DCEBFF"/>
                </a:solidFill>
                <a:latin typeface="Segoe UI"/>
              </a:defRPr>
            </a:pPr>
            <a:r>
              <a:t>JavaFX HUD &amp; Visualizer</a:t>
            </a:r>
          </a:p>
          <a:p>
            <a:pPr>
              <a:defRPr sz="950">
                <a:solidFill>
                  <a:srgbClr val="94A3B8"/>
                </a:solidFill>
                <a:latin typeface="Segoe UI"/>
              </a:defRPr>
            </a:pPr>
            <a:r>
              <a:t>Engineered cyberpunk glassmorphic JavaFX UI, real-time Canvas audio visualizer, chat viewports, and system telemetry meters.</a:t>
            </a:r>
          </a:p>
        </p:txBody>
      </p:sp>
      <p:sp>
        <p:nvSpPr>
          <p:cNvPr id="12" name="Rounded Rectangle 11"/>
          <p:cNvSpPr/>
          <p:nvPr/>
        </p:nvSpPr>
        <p:spPr>
          <a:xfrm>
            <a:off x="9326880" y="1828800"/>
            <a:ext cx="2057400" cy="429768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Segoe UI"/>
              </a:defRPr>
            </a:pPr>
            <a:r>
              <a:t>Abhijay L. G.</a:t>
            </a:r>
          </a:p>
          <a:p>
            <a:pPr>
              <a:spcAft>
                <a:spcPts val="600"/>
              </a:spcAft>
              <a:defRPr sz="1000" b="1">
                <a:solidFill>
                  <a:srgbClr val="00F2FE"/>
                </a:solidFill>
                <a:latin typeface="Segoe UI"/>
              </a:defRPr>
            </a:pPr>
            <a:r>
              <a:t>STI25CS121</a:t>
            </a:r>
          </a:p>
          <a:p>
            <a:pPr>
              <a:spcAft>
                <a:spcPts val="800"/>
              </a:spcAft>
              <a:defRPr sz="1100" b="1">
                <a:solidFill>
                  <a:srgbClr val="DCEBFF"/>
                </a:solidFill>
                <a:latin typeface="Segoe UI"/>
              </a:defRPr>
            </a:pPr>
            <a:r>
              <a:t>Central Orchestration &amp; Learning</a:t>
            </a:r>
          </a:p>
          <a:p>
            <a:pPr>
              <a:defRPr sz="950">
                <a:solidFill>
                  <a:srgbClr val="94A3B8"/>
                </a:solidFill>
                <a:latin typeface="Segoe UI"/>
              </a:defRPr>
            </a:pPr>
            <a:r>
              <a:t>Architected NexusCore, MultimodalEventBus, SQLite JDBC persistence, and the Closed-Loop Adaptive Personalization Engine.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A1E32"/>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0F2FE"/>
                </a:solidFill>
                <a:latin typeface="Segoe UI"/>
              </a:defRPr>
            </a:pPr>
            <a:r>
              <a:t>◈ VIVA DEFENSE GUIDE</a:t>
            </a:r>
          </a:p>
        </p:txBody>
      </p:sp>
      <p:sp>
        <p:nvSpPr>
          <p:cNvPr id="4" name="TextBox 3"/>
          <p:cNvSpPr txBox="1"/>
          <p:nvPr/>
        </p:nvSpPr>
        <p:spPr>
          <a:xfrm>
            <a:off x="731520" y="731520"/>
            <a:ext cx="9601200" cy="685800"/>
          </a:xfrm>
          <a:prstGeom prst="rect">
            <a:avLst/>
          </a:prstGeom>
          <a:noFill/>
        </p:spPr>
        <p:txBody>
          <a:bodyPr wrap="square">
            <a:spAutoFit/>
          </a:bodyPr>
          <a:lstStyle/>
          <a:p>
            <a:pPr>
              <a:defRPr sz="2600" b="1">
                <a:solidFill>
                  <a:srgbClr val="F8FAFC"/>
                </a:solidFill>
                <a:latin typeface="Segoe UI"/>
              </a:defRPr>
            </a:pPr>
            <a:r>
              <a:t>Viva Examination Defense &amp; Evaluator Q&amp;A Handbook</a:t>
            </a:r>
          </a:p>
        </p:txBody>
      </p:sp>
      <p:sp>
        <p:nvSpPr>
          <p:cNvPr id="5" name="Rectangle 4"/>
          <p:cNvSpPr/>
          <p:nvPr/>
        </p:nvSpPr>
        <p:spPr>
          <a:xfrm>
            <a:off x="731520" y="1444752"/>
            <a:ext cx="10728655" cy="1905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26464"/>
            <a:ext cx="1097280" cy="3175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365760"/>
            <a:ext cx="914400" cy="365760"/>
          </a:xfrm>
          <a:prstGeom prst="rect">
            <a:avLst/>
          </a:prstGeom>
          <a:noFill/>
        </p:spPr>
        <p:txBody>
          <a:bodyPr wrap="none">
            <a:spAutoFit/>
          </a:bodyPr>
          <a:lstStyle/>
          <a:p>
            <a:pPr algn="r">
              <a:defRPr sz="1100" b="1">
                <a:solidFill>
                  <a:srgbClr val="94A3B8"/>
                </a:solidFill>
                <a:latin typeface="Segoe UI"/>
              </a:defRPr>
            </a:pPr>
            <a:r>
              <a:t>15 / 16</a:t>
            </a:r>
          </a:p>
        </p:txBody>
      </p:sp>
      <p:sp>
        <p:nvSpPr>
          <p:cNvPr id="8" name="Rounded Rectangle 7"/>
          <p:cNvSpPr/>
          <p:nvPr/>
        </p:nvSpPr>
        <p:spPr>
          <a:xfrm>
            <a:off x="731520" y="1828800"/>
            <a:ext cx="10728655" cy="123444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50" b="1">
                <a:solidFill>
                  <a:srgbClr val="00F2FE"/>
                </a:solidFill>
                <a:latin typeface="Segoe UI"/>
              </a:defRPr>
            </a:pPr>
            <a:r>
              <a:t>Q: Why Java over Python for the core orchestrator?</a:t>
            </a:r>
          </a:p>
          <a:p>
            <a:pPr>
              <a:defRPr sz="1050">
                <a:solidFill>
                  <a:srgbClr val="F8FAFC"/>
                </a:solidFill>
                <a:latin typeface="Segoe UI"/>
              </a:defRPr>
            </a:pPr>
            <a:r>
              <a:t>Python's GIL throttles concurrent multimedia threads. In N.E.X.U.S, Java coordinates hardware threads with zero GIL contention, manages memory predictably through the JVM, and renders smooth 60 FPS JavaFX graphics while invoking native C++ models via JNI.</a:t>
            </a:r>
          </a:p>
        </p:txBody>
      </p:sp>
      <p:sp>
        <p:nvSpPr>
          <p:cNvPr id="9" name="Rounded Rectangle 8"/>
          <p:cNvSpPr/>
          <p:nvPr/>
        </p:nvSpPr>
        <p:spPr>
          <a:xfrm>
            <a:off x="731520" y="3246120"/>
            <a:ext cx="10728655" cy="1234440"/>
          </a:xfrm>
          <a:prstGeom prst="roundRect">
            <a:avLst/>
          </a:prstGeom>
          <a:solidFill>
            <a:srgbClr val="0E172A"/>
          </a:solidFill>
          <a:ln w="15240">
            <a:solidFill>
              <a:srgbClr val="00FF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50" b="1">
                <a:solidFill>
                  <a:srgbClr val="00FF87"/>
                </a:solidFill>
                <a:latin typeface="Segoe UI"/>
              </a:defRPr>
            </a:pPr>
            <a:r>
              <a:t>Q: How does Adaptive Personalization avoid token explosion?</a:t>
            </a:r>
          </a:p>
          <a:p>
            <a:pPr>
              <a:defRPr sz="1050">
                <a:solidFill>
                  <a:srgbClr val="F8FAFC"/>
                </a:solidFill>
                <a:latin typeface="Segoe UI"/>
              </a:defRPr>
            </a:pPr>
            <a:r>
              <a:t>Instead of appending endless chat history, N.E.X.U.S bounds chat history to 6 turns and distills long-term memory into a concise 2-sentence LLM-synthesized behavioral summary. Context footprint remains constant at ~720 tokens forever.</a:t>
            </a:r>
          </a:p>
        </p:txBody>
      </p:sp>
      <p:sp>
        <p:nvSpPr>
          <p:cNvPr id="10" name="Rounded Rectangle 9"/>
          <p:cNvSpPr/>
          <p:nvPr/>
        </p:nvSpPr>
        <p:spPr>
          <a:xfrm>
            <a:off x="731520" y="4663440"/>
            <a:ext cx="10728655" cy="1234440"/>
          </a:xfrm>
          <a:prstGeom prst="roundRect">
            <a:avLst/>
          </a:prstGeom>
          <a:solidFill>
            <a:srgbClr val="0E17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50" b="1">
                <a:solidFill>
                  <a:srgbClr val="F59E0B"/>
                </a:solidFill>
                <a:latin typeface="Segoe UI"/>
              </a:defRPr>
            </a:pPr>
            <a:r>
              <a:t>Q: What happens if webcam is disconnected or lighting is poor?</a:t>
            </a:r>
          </a:p>
          <a:p>
            <a:pPr>
              <a:defRPr sz="1050">
                <a:solidFill>
                  <a:srgbClr val="F8FAFC"/>
                </a:solidFill>
                <a:latin typeface="Segoe UI"/>
              </a:defRPr>
            </a:pPr>
            <a:r>
              <a:t>N.E.X.U.S features temporal smoothing across moving frames, an automated simulated sensor canvas fallback with targeting brackets, and quick-action HUD simulation buttons for live viva testing without hardware dependencies.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0E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914400"/>
            <a:ext cx="9997135" cy="91440"/>
          </a:xfrm>
          <a:prstGeom prst="rect">
            <a:avLst/>
          </a:prstGeom>
          <a:solidFill>
            <a:srgbClr val="00F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371600"/>
            <a:ext cx="8899855" cy="4114800"/>
          </a:xfrm>
          <a:prstGeom prst="rect">
            <a:avLst/>
          </a:prstGeom>
          <a:noFill/>
        </p:spPr>
        <p:txBody>
          <a:bodyPr wrap="square">
            <a:spAutoFit/>
          </a:bodyPr>
          <a:lstStyle/>
          <a:p>
            <a:pPr>
              <a:spcAft>
                <a:spcPts val="1400"/>
              </a:spcAft>
              <a:defRPr sz="2800" b="1">
                <a:solidFill>
                  <a:srgbClr val="F8FAFC"/>
                </a:solidFill>
                <a:latin typeface="Segoe UI"/>
              </a:defRPr>
            </a:pPr>
            <a:r>
              <a:t>PROJECT N.E.X.U.S: CONCLUSION &amp; DEMONSTRATION</a:t>
            </a:r>
          </a:p>
          <a:p>
            <a:pPr>
              <a:spcBef>
                <a:spcPts val="800"/>
              </a:spcBef>
              <a:defRPr sz="1200">
                <a:solidFill>
                  <a:srgbClr val="DCEBFF"/>
                </a:solidFill>
                <a:latin typeface="Segoe UI"/>
              </a:defRPr>
            </a:pPr>
            <a:r>
              <a:t>✔ Unified Multimodal Core: Demonstrated that Java 21 LTS can serve as an ultra-high performance central orchestrator for computer vision, audio streams, and LLM reasoning.</a:t>
            </a:r>
          </a:p>
          <a:p>
            <a:pPr>
              <a:spcBef>
                <a:spcPts val="800"/>
              </a:spcBef>
              <a:defRPr sz="1200">
                <a:solidFill>
                  <a:srgbClr val="DCEBFF"/>
                </a:solidFill>
                <a:latin typeface="Segoe UI"/>
              </a:defRPr>
            </a:pPr>
            <a:r>
              <a:t>✔ Closed-Loop Adaptive Persona: Proved that periodic LLM qualitative synthesis enables assistants to adapt to user emotional cadence without inflating prompt token costs.</a:t>
            </a:r>
          </a:p>
          <a:p>
            <a:pPr>
              <a:spcBef>
                <a:spcPts val="800"/>
              </a:spcBef>
              <a:defRPr sz="1200">
                <a:solidFill>
                  <a:srgbClr val="DCEBFF"/>
                </a:solidFill>
                <a:latin typeface="Segoe UI"/>
              </a:defRPr>
            </a:pPr>
            <a:r>
              <a:t>✔ Academic &amp; Practical Readiness: Delivered complete IEEE-compliant SRS specifications, architectural documentation, and a robust zero-crash desktop application.</a:t>
            </a:r>
          </a:p>
          <a:p>
            <a:pPr>
              <a:spcBef>
                <a:spcPts val="800"/>
              </a:spcBef>
              <a:defRPr sz="1200">
                <a:solidFill>
                  <a:srgbClr val="DCEBFF"/>
                </a:solidFill>
                <a:latin typeface="Segoe UI"/>
              </a:defRPr>
            </a:pPr>
            <a:r>
              <a:t>✔ Next Steps: On-device quantized SLM inference (Ollama), multi-user biometric face recognition, and desktop automation tool calling.</a:t>
            </a:r>
          </a:p>
          <a:p>
            <a:br/>
            <a:pPr>
              <a:spcBef>
                <a:spcPts val="1600"/>
              </a:spcBef>
              <a:defRPr sz="1800" b="1">
                <a:solidFill>
                  <a:srgbClr val="00F2FE"/>
                </a:solidFill>
                <a:latin typeface="Segoe UI"/>
              </a:defRPr>
            </a:pPr>
            <a:r>
              <a:t>Thank You!  •  Questions &amp; Live HUD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